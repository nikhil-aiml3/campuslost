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y="5143500" cx="9144000"/>
  <p:notesSz cx="5143500" cy="9144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tableStyles" Target="tableStyle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30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48731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73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3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8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Introduce the project: a MERN-based portal where students and staff report and search lost and found items on campus.</a:t>
            </a:r>
            <a:endParaRPr dirty="0" lang="en-US"/>
          </a:p>
        </p:txBody>
      </p:sp>
      <p:sp>
        <p:nvSpPr>
          <p:cNvPr id="104858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1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State the problem, then walk through the six project objectives.</a:t>
            </a:r>
            <a:endParaRPr dirty="0" lang="en-US"/>
          </a:p>
        </p:txBody>
      </p:sp>
      <p:sp>
        <p:nvSpPr>
          <p:cNvPr id="104861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4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Four main capabilities, backed by one Item document holding the fields required by the problem statement.</a:t>
            </a:r>
            <a:endParaRPr dirty="0" lang="en-US"/>
          </a:p>
        </p:txBody>
      </p:sp>
      <p:sp>
        <p:nvSpPr>
          <p:cNvPr id="104864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7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React calls the Express REST API with Axios; Express uses Mongoose to read and write MongoDB. Multer handles image uploads.</a:t>
            </a:r>
            <a:endParaRPr dirty="0" lang="en-US"/>
          </a:p>
        </p:txBody>
      </p:sp>
      <p:sp>
        <p:nvSpPr>
          <p:cNvPr id="104867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7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These endpoints cover create, read, update and delete for items, plus login. The status route supports the claim workflow.</a:t>
            </a:r>
            <a:endParaRPr dirty="0" lang="en-US"/>
          </a:p>
        </p:txBody>
      </p:sp>
      <p:sp>
        <p:nvSpPr>
          <p:cNvPr id="104867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0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Passwords are hashed with bcrypt; JWT tokens carry the user role so the API can enforce role-based access.</a:t>
            </a:r>
            <a:endParaRPr dirty="0" lang="en-US"/>
          </a:p>
        </p:txBody>
      </p:sp>
      <p:sp>
        <p:nvSpPr>
          <p:cNvPr id="104870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Summarise what was delivered against the objectives, then suggest extensions.</a:t>
            </a:r>
            <a:endParaRPr dirty="0" lang="en-US"/>
          </a:p>
        </p:txBody>
      </p:sp>
      <p:sp>
        <p:nvSpPr>
          <p:cNvPr id="104872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7" name="Text 0"/>
          <p:cNvSpPr/>
          <p:nvPr>
            <p:ph type="title" idx="100" hasCustomPrompt="1"/>
          </p:nvPr>
        </p:nvSpPr>
        <p:spPr>
          <a:xfrm>
            <a:off x="548640" y="1234440"/>
            <a:ext cx="4846320" cy="1554480"/>
          </a:xfrm>
          <a:prstGeom prst="rect"/>
          <a:noFill/>
        </p:spPr>
        <p:txBody>
          <a:bodyPr rtlCol="0" wrap="square"/>
          <a:lstStyle>
            <a:lvl1pPr algn="l" indent="0" marL="0">
              <a:buNone/>
              <a:defRPr b="1" dirty="0" sz="4000" lang="en-US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dirty="0" sz="400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</p:bgPr>
    </p:bg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/>
          <a:noFill/>
        </p:spPr>
        <p:txBody>
          <a:bodyPr rtlCol="0" wrap="square"/>
          <a:lstStyle>
            <a:lvl1pPr algn="l" indent="0" marL="0">
              <a:buNone/>
              <a:defRPr b="1" dirty="0" sz="3600" lang="en-US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dirty="0" sz="3600" lang="en-US"/>
          </a:p>
        </p:txBody>
      </p:sp>
      <p:sp>
        <p:nvSpPr>
          <p:cNvPr id="104859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/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1"/>
        </a:solidFill>
      </p:bgPr>
    </p:bg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/>
          <a:noFill/>
        </p:spPr>
        <p:txBody>
          <a:bodyPr rtlCol="0" wrap="square"/>
          <a:lstStyle>
            <a:lvl1pPr algn="l" indent="0" marL="0">
              <a:buNone/>
              <a:defRPr b="1" dirty="0" sz="3600" lang="en-US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dirty="0" sz="3600" lang="en-US"/>
          </a:p>
        </p:txBody>
      </p:sp>
      <p:sp>
        <p:nvSpPr>
          <p:cNvPr id="10487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/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/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8" name="Text 0"/>
          <p:cNvSpPr txBox="1"/>
          <p:nvPr/>
        </p:nvSpPr>
        <p:spPr>
          <a:xfrm>
            <a:off x="548640" y="777240"/>
            <a:ext cx="48463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kern="0" lang="en-US" spc="200">
                <a:solidFill>
                  <a:schemeClr val="accent1"/>
                </a:solidFill>
              </a:rPr>
              <a:t>MINI PROJECT  |  MERN STACK</a:t>
            </a:r>
            <a:endParaRPr dirty="0" sz="1400" lang="en-US"/>
          </a:p>
        </p:txBody>
      </p:sp>
      <p:sp>
        <p:nvSpPr>
          <p:cNvPr id="1048579" name="Text 0"/>
          <p:cNvSpPr/>
          <p:nvPr>
            <p:ph type="title" idx="100" hasCustomPrompt="1"/>
          </p:nvPr>
        </p:nvSpPr>
        <p:spPr>
          <a:xfrm>
            <a:off x="548640" y="1234440"/>
            <a:ext cx="4846320" cy="155448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buNone/>
            </a:pPr>
            <a:r>
              <a:rPr b="1" dirty="0" sz="4000" lang="en-US">
                <a:solidFill>
                  <a:schemeClr val="bg1"/>
                </a:solidFill>
              </a:rPr>
              <a:t>Campus Lost &amp; Found Portal</a:t>
            </a:r>
            <a:endParaRPr dirty="0" sz="4000" lang="en-US"/>
          </a:p>
        </p:txBody>
      </p:sp>
      <p:sp>
        <p:nvSpPr>
          <p:cNvPr id="1048580" name="Text 2"/>
          <p:cNvSpPr txBox="1"/>
          <p:nvPr/>
        </p:nvSpPr>
        <p:spPr>
          <a:xfrm>
            <a:off x="548640" y="2926080"/>
            <a:ext cx="484632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800" lang="en-US">
                <a:solidFill>
                  <a:schemeClr val="bg2"/>
                </a:solidFill>
              </a:rPr>
              <a:t>Report, search and recover lost items on campus</a:t>
            </a:r>
            <a:endParaRPr dirty="0" sz="1800" lang="en-US"/>
          </a:p>
        </p:txBody>
      </p:sp>
      <p:sp>
        <p:nvSpPr>
          <p:cNvPr id="1048581" name="Text 3"/>
          <p:cNvSpPr txBox="1"/>
          <p:nvPr/>
        </p:nvSpPr>
        <p:spPr>
          <a:xfrm>
            <a:off x="548640" y="3931920"/>
            <a:ext cx="484632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altLang="en-IN" b="1" dirty="0" sz="1400" lang="en-US">
                <a:solidFill>
                  <a:schemeClr val="accent1"/>
                </a:solidFill>
              </a:rPr>
              <a:t>M</a:t>
            </a:r>
            <a:r>
              <a:rPr altLang="en-IN" b="1" dirty="0" sz="1400" lang="en-US">
                <a:solidFill>
                  <a:schemeClr val="accent1"/>
                </a:solidFill>
              </a:rPr>
              <a:t>.</a:t>
            </a:r>
            <a:r>
              <a:rPr altLang="en-IN" b="1" dirty="0" sz="1400" lang="en-US">
                <a:solidFill>
                  <a:schemeClr val="accent1"/>
                </a:solidFill>
              </a:rPr>
              <a:t>S</a:t>
            </a:r>
            <a:r>
              <a:rPr altLang="en-IN" b="1" dirty="0" sz="1400" lang="en-US">
                <a:solidFill>
                  <a:schemeClr val="accent1"/>
                </a:solidFill>
              </a:rPr>
              <a:t>U</a:t>
            </a:r>
            <a:r>
              <a:rPr altLang="en-IN" b="1" dirty="0" sz="1400" lang="en-US">
                <a:solidFill>
                  <a:schemeClr val="accent1"/>
                </a:solidFill>
              </a:rPr>
              <a:t>N</a:t>
            </a:r>
            <a:r>
              <a:rPr altLang="en-IN" b="1" dirty="0" sz="1400" lang="en-US">
                <a:solidFill>
                  <a:schemeClr val="accent1"/>
                </a:solidFill>
              </a:rPr>
              <a:t>N</a:t>
            </a:r>
            <a:r>
              <a:rPr altLang="en-IN" b="1" dirty="0" sz="1400" lang="en-US">
                <a:solidFill>
                  <a:schemeClr val="accent1"/>
                </a:solidFill>
              </a:rPr>
              <a:t>Y</a:t>
            </a:r>
            <a:r>
              <a:rPr altLang="en-IN" b="1" dirty="0" sz="1400" lang="en-US">
                <a:solidFill>
                  <a:schemeClr val="accent1"/>
                </a:solidFill>
              </a:rPr>
              <a:t>T</a:t>
            </a:r>
            <a:r>
              <a:rPr altLang="en-IN" b="1" dirty="0" sz="1400" lang="en-US">
                <a:solidFill>
                  <a:schemeClr val="accent1"/>
                </a:solidFill>
              </a:rPr>
              <a:t>H</a:t>
            </a:r>
            <a:r>
              <a:rPr altLang="en-IN" b="1" dirty="0" sz="1400" lang="en-US">
                <a:solidFill>
                  <a:schemeClr val="accent1"/>
                </a:solidFill>
              </a:rPr>
              <a:t> </a:t>
            </a:r>
            <a:r>
              <a:rPr altLang="en-IN" b="1" dirty="0" sz="1400" lang="en-US">
                <a:solidFill>
                  <a:schemeClr val="accent1"/>
                </a:solidFill>
              </a:rPr>
              <a:t>-</a:t>
            </a:r>
            <a:r>
              <a:rPr altLang="en-IN" b="1" dirty="0" sz="1400" lang="en-US">
                <a:solidFill>
                  <a:schemeClr val="accent1"/>
                </a:solidFill>
              </a:rPr>
              <a:t> </a:t>
            </a:r>
            <a:r>
              <a:rPr altLang="en-IN" b="1" dirty="0" sz="1400" lang="en-US">
                <a:solidFill>
                  <a:schemeClr val="accent1"/>
                </a:solidFill>
              </a:rPr>
              <a:t>2</a:t>
            </a:r>
            <a:r>
              <a:rPr altLang="en-IN" b="1" dirty="0" sz="1400" lang="en-US">
                <a:solidFill>
                  <a:schemeClr val="accent1"/>
                </a:solidFill>
              </a:rPr>
              <a:t>5</a:t>
            </a:r>
            <a:r>
              <a:rPr altLang="en-IN" b="1" dirty="0" sz="1400" lang="en-US">
                <a:solidFill>
                  <a:schemeClr val="accent1"/>
                </a:solidFill>
              </a:rPr>
              <a:t>M</a:t>
            </a:r>
            <a:r>
              <a:rPr altLang="en-IN" b="1" dirty="0" sz="1400" lang="en-US">
                <a:solidFill>
                  <a:schemeClr val="accent1"/>
                </a:solidFill>
              </a:rPr>
              <a:t>V</a:t>
            </a:r>
            <a:r>
              <a:rPr altLang="en-IN" b="1" dirty="0" sz="1400" lang="en-US">
                <a:solidFill>
                  <a:schemeClr val="accent1"/>
                </a:solidFill>
              </a:rPr>
              <a:t>C</a:t>
            </a:r>
            <a:r>
              <a:rPr altLang="en-IN" b="1" dirty="0" sz="1400" lang="en-US">
                <a:solidFill>
                  <a:schemeClr val="accent1"/>
                </a:solidFill>
              </a:rPr>
              <a:t>S</a:t>
            </a:r>
            <a:r>
              <a:rPr altLang="en-IN" b="1" dirty="0" sz="1400" lang="en-US">
                <a:solidFill>
                  <a:schemeClr val="accent1"/>
                </a:solidFill>
              </a:rPr>
              <a:t>M</a:t>
            </a:r>
            <a:r>
              <a:rPr altLang="en-IN" b="1" dirty="0" sz="1400" lang="en-US">
                <a:solidFill>
                  <a:schemeClr val="accent1"/>
                </a:solidFill>
              </a:rPr>
              <a:t>R</a:t>
            </a:r>
            <a:r>
              <a:rPr altLang="en-IN" b="1" dirty="0" sz="1400" lang="en-US">
                <a:solidFill>
                  <a:schemeClr val="accent1"/>
                </a:solidFill>
              </a:rPr>
              <a:t>0</a:t>
            </a:r>
            <a:r>
              <a:rPr altLang="en-IN" b="1" dirty="0" sz="1400" lang="en-US">
                <a:solidFill>
                  <a:schemeClr val="accent1"/>
                </a:solidFill>
              </a:rPr>
              <a:t>1</a:t>
            </a:r>
            <a:r>
              <a:rPr altLang="en-IN" b="1" dirty="0" sz="1400" lang="en-US">
                <a:solidFill>
                  <a:schemeClr val="accent1"/>
                </a:solidFill>
              </a:rPr>
              <a:t>4</a:t>
            </a:r>
            <a:r>
              <a:rPr altLang="en-IN" b="1" dirty="0" sz="1400" lang="en-US">
                <a:solidFill>
                  <a:schemeClr val="accent1"/>
                </a:solidFill>
              </a:rPr>
              <a:t>3</a:t>
            </a:r>
            <a:endParaRPr dirty="0" sz="1400" lang="en-US"/>
          </a:p>
          <a:p>
            <a:pPr indent="0" marL="0">
              <a:buNone/>
            </a:pPr>
            <a:r>
              <a:rPr altLang="en-IN" b="1" dirty="0" sz="1400" lang="en-US">
                <a:solidFill>
                  <a:schemeClr val="accent1"/>
                </a:solidFill>
              </a:rPr>
              <a:t>S</a:t>
            </a:r>
            <a:r>
              <a:rPr altLang="en-IN" b="1" dirty="0" sz="1400" lang="en-US">
                <a:solidFill>
                  <a:schemeClr val="accent1"/>
                </a:solidFill>
              </a:rPr>
              <a:t>.</a:t>
            </a:r>
            <a:r>
              <a:rPr altLang="en-IN" b="1" dirty="0" sz="1400" lang="en-US">
                <a:solidFill>
                  <a:schemeClr val="accent1"/>
                </a:solidFill>
              </a:rPr>
              <a:t>N</a:t>
            </a:r>
            <a:r>
              <a:rPr altLang="en-IN" b="1" dirty="0" sz="1400" lang="en-US">
                <a:solidFill>
                  <a:schemeClr val="accent1"/>
                </a:solidFill>
              </a:rPr>
              <a:t>I</a:t>
            </a:r>
            <a:r>
              <a:rPr altLang="en-IN" b="1" dirty="0" sz="1400" lang="en-US">
                <a:solidFill>
                  <a:schemeClr val="accent1"/>
                </a:solidFill>
              </a:rPr>
              <a:t>K</a:t>
            </a:r>
            <a:r>
              <a:rPr altLang="en-IN" b="1" dirty="0" sz="1400" lang="en-US">
                <a:solidFill>
                  <a:schemeClr val="accent1"/>
                </a:solidFill>
              </a:rPr>
              <a:t>H</a:t>
            </a:r>
            <a:r>
              <a:rPr altLang="en-IN" b="1" dirty="0" sz="1400" lang="en-US">
                <a:solidFill>
                  <a:schemeClr val="accent1"/>
                </a:solidFill>
              </a:rPr>
              <a:t>I</a:t>
            </a:r>
            <a:r>
              <a:rPr altLang="en-IN" b="1" dirty="0" sz="1400" lang="en-US">
                <a:solidFill>
                  <a:schemeClr val="accent1"/>
                </a:solidFill>
              </a:rPr>
              <a:t>L</a:t>
            </a:r>
            <a:r>
              <a:rPr altLang="en-IN" b="1" dirty="0" sz="1400" lang="en-US">
                <a:solidFill>
                  <a:schemeClr val="accent1"/>
                </a:solidFill>
              </a:rPr>
              <a:t> </a:t>
            </a:r>
            <a:r>
              <a:rPr altLang="en-IN" b="1" dirty="0" sz="1400" lang="en-US">
                <a:solidFill>
                  <a:schemeClr val="accent1"/>
                </a:solidFill>
              </a:rPr>
              <a:t>-</a:t>
            </a:r>
            <a:r>
              <a:rPr altLang="en-IN" b="1" dirty="0" sz="1400" lang="en-US">
                <a:solidFill>
                  <a:schemeClr val="accent1"/>
                </a:solidFill>
              </a:rPr>
              <a:t> </a:t>
            </a:r>
            <a:r>
              <a:rPr altLang="en-IN" b="1" dirty="0" sz="1400" lang="en-US">
                <a:solidFill>
                  <a:schemeClr val="accent1"/>
                </a:solidFill>
              </a:rPr>
              <a:t>2</a:t>
            </a:r>
            <a:r>
              <a:rPr altLang="en-IN" b="1" dirty="0" sz="1400" lang="en-US">
                <a:solidFill>
                  <a:schemeClr val="accent1"/>
                </a:solidFill>
              </a:rPr>
              <a:t>5</a:t>
            </a:r>
            <a:r>
              <a:rPr altLang="en-IN" b="1" dirty="0" sz="1400" lang="en-US">
                <a:solidFill>
                  <a:schemeClr val="accent1"/>
                </a:solidFill>
              </a:rPr>
              <a:t>M</a:t>
            </a:r>
            <a:r>
              <a:rPr altLang="en-IN" b="1" dirty="0" sz="1400" lang="en-US">
                <a:solidFill>
                  <a:schemeClr val="accent1"/>
                </a:solidFill>
              </a:rPr>
              <a:t>V</a:t>
            </a:r>
            <a:r>
              <a:rPr altLang="en-IN" b="1" dirty="0" sz="1400" lang="en-US">
                <a:solidFill>
                  <a:schemeClr val="accent1"/>
                </a:solidFill>
              </a:rPr>
              <a:t>C</a:t>
            </a:r>
            <a:r>
              <a:rPr altLang="en-IN" b="1" dirty="0" sz="1400" lang="en-US">
                <a:solidFill>
                  <a:schemeClr val="accent1"/>
                </a:solidFill>
              </a:rPr>
              <a:t>S</a:t>
            </a:r>
            <a:r>
              <a:rPr altLang="en-IN" b="1" dirty="0" sz="1400" lang="en-US">
                <a:solidFill>
                  <a:schemeClr val="accent1"/>
                </a:solidFill>
              </a:rPr>
              <a:t>M</a:t>
            </a:r>
            <a:r>
              <a:rPr altLang="en-IN" b="1" dirty="0" sz="1400" lang="en-US">
                <a:solidFill>
                  <a:schemeClr val="accent1"/>
                </a:solidFill>
              </a:rPr>
              <a:t>R</a:t>
            </a:r>
            <a:r>
              <a:rPr altLang="en-IN" b="1" dirty="0" sz="1400" lang="en-US">
                <a:solidFill>
                  <a:schemeClr val="accent1"/>
                </a:solidFill>
              </a:rPr>
              <a:t>0</a:t>
            </a:r>
            <a:r>
              <a:rPr altLang="en-IN" b="1" dirty="0" sz="1400" lang="en-US">
                <a:solidFill>
                  <a:schemeClr val="accent1"/>
                </a:solidFill>
              </a:rPr>
              <a:t>1</a:t>
            </a:r>
            <a:r>
              <a:rPr altLang="en-IN" b="1" dirty="0" sz="1400" lang="en-US">
                <a:solidFill>
                  <a:schemeClr val="accent1"/>
                </a:solidFill>
              </a:rPr>
              <a:t>7</a:t>
            </a:r>
            <a:r>
              <a:rPr altLang="en-IN" b="1" dirty="0" sz="1400" lang="en-US">
                <a:solidFill>
                  <a:schemeClr val="accent1"/>
                </a:solidFill>
              </a:rPr>
              <a:t>1</a:t>
            </a:r>
            <a:endParaRPr dirty="0" sz="1400" lang="en-US"/>
          </a:p>
          <a:p>
            <a:pPr indent="0" marL="0">
              <a:buNone/>
            </a:pPr>
            <a:r>
              <a:rPr altLang="en-IN" b="1" dirty="0" sz="1400" lang="en-US">
                <a:solidFill>
                  <a:schemeClr val="accent1"/>
                </a:solidFill>
              </a:rPr>
              <a:t>R</a:t>
            </a:r>
            <a:r>
              <a:rPr altLang="en-IN" b="1" dirty="0" sz="1400" lang="en-US">
                <a:solidFill>
                  <a:schemeClr val="accent1"/>
                </a:solidFill>
              </a:rPr>
              <a:t>.</a:t>
            </a:r>
            <a:r>
              <a:rPr altLang="en-IN" b="1" dirty="0" sz="1400" lang="en-US">
                <a:solidFill>
                  <a:schemeClr val="accent1"/>
                </a:solidFill>
              </a:rPr>
              <a:t>V</a:t>
            </a:r>
            <a:r>
              <a:rPr altLang="en-IN" b="1" dirty="0" sz="1400" lang="en-US">
                <a:solidFill>
                  <a:schemeClr val="accent1"/>
                </a:solidFill>
              </a:rPr>
              <a:t>I</a:t>
            </a:r>
            <a:r>
              <a:rPr altLang="en-IN" b="1" dirty="0" sz="1400" lang="en-US">
                <a:solidFill>
                  <a:schemeClr val="accent1"/>
                </a:solidFill>
              </a:rPr>
              <a:t>N</a:t>
            </a:r>
            <a:r>
              <a:rPr altLang="en-IN" b="1" dirty="0" sz="1400" lang="en-US">
                <a:solidFill>
                  <a:schemeClr val="accent1"/>
                </a:solidFill>
              </a:rPr>
              <a:t>A</a:t>
            </a:r>
            <a:r>
              <a:rPr altLang="en-IN" b="1" dirty="0" sz="1400" lang="en-US">
                <a:solidFill>
                  <a:schemeClr val="accent1"/>
                </a:solidFill>
              </a:rPr>
              <a:t>Y</a:t>
            </a:r>
            <a:r>
              <a:rPr altLang="en-IN" b="1" dirty="0" sz="1400" lang="en-US">
                <a:solidFill>
                  <a:schemeClr val="accent1"/>
                </a:solidFill>
              </a:rPr>
              <a:t> </a:t>
            </a:r>
            <a:r>
              <a:rPr altLang="en-IN" b="1" dirty="0" sz="1400" lang="en-US">
                <a:solidFill>
                  <a:schemeClr val="accent1"/>
                </a:solidFill>
              </a:rPr>
              <a:t>-</a:t>
            </a:r>
            <a:r>
              <a:rPr altLang="en-IN" b="1" dirty="0" sz="1400" lang="en-US">
                <a:solidFill>
                  <a:schemeClr val="accent1"/>
                </a:solidFill>
              </a:rPr>
              <a:t> </a:t>
            </a:r>
            <a:r>
              <a:rPr altLang="en-IN" b="1" dirty="0" sz="1400" lang="en-US">
                <a:solidFill>
                  <a:schemeClr val="accent1"/>
                </a:solidFill>
              </a:rPr>
              <a:t>2</a:t>
            </a:r>
            <a:r>
              <a:rPr altLang="en-IN" b="1" dirty="0" sz="1400" lang="en-US">
                <a:solidFill>
                  <a:schemeClr val="accent1"/>
                </a:solidFill>
              </a:rPr>
              <a:t>5</a:t>
            </a:r>
            <a:r>
              <a:rPr altLang="en-IN" b="1" dirty="0" sz="1400" lang="en-US">
                <a:solidFill>
                  <a:schemeClr val="accent1"/>
                </a:solidFill>
              </a:rPr>
              <a:t>M</a:t>
            </a:r>
            <a:r>
              <a:rPr altLang="en-IN" b="1" dirty="0" sz="1400" lang="en-US">
                <a:solidFill>
                  <a:schemeClr val="accent1"/>
                </a:solidFill>
              </a:rPr>
              <a:t>V</a:t>
            </a:r>
            <a:r>
              <a:rPr altLang="en-IN" b="1" dirty="0" sz="1400" lang="en-US">
                <a:solidFill>
                  <a:schemeClr val="accent1"/>
                </a:solidFill>
              </a:rPr>
              <a:t>C</a:t>
            </a:r>
            <a:r>
              <a:rPr altLang="en-IN" b="1" dirty="0" sz="1400" lang="en-US">
                <a:solidFill>
                  <a:schemeClr val="accent1"/>
                </a:solidFill>
              </a:rPr>
              <a:t>S</a:t>
            </a:r>
            <a:r>
              <a:rPr altLang="en-IN" b="1" dirty="0" sz="1400" lang="en-US">
                <a:solidFill>
                  <a:schemeClr val="accent1"/>
                </a:solidFill>
              </a:rPr>
              <a:t>M</a:t>
            </a:r>
            <a:r>
              <a:rPr altLang="en-IN" b="1" dirty="0" sz="1400" lang="en-US">
                <a:solidFill>
                  <a:schemeClr val="accent1"/>
                </a:solidFill>
              </a:rPr>
              <a:t>R</a:t>
            </a:r>
            <a:r>
              <a:rPr altLang="en-IN" b="1" dirty="0" sz="1400" lang="en-US">
                <a:solidFill>
                  <a:schemeClr val="accent1"/>
                </a:solidFill>
              </a:rPr>
              <a:t>0</a:t>
            </a:r>
            <a:r>
              <a:rPr altLang="en-IN" b="1" dirty="0" sz="1400" lang="en-US">
                <a:solidFill>
                  <a:schemeClr val="accent1"/>
                </a:solidFill>
              </a:rPr>
              <a:t>1</a:t>
            </a:r>
            <a:r>
              <a:rPr altLang="en-IN" b="1" dirty="0" sz="1400" lang="en-US">
                <a:solidFill>
                  <a:schemeClr val="accent1"/>
                </a:solidFill>
              </a:rPr>
              <a:t>6</a:t>
            </a:r>
            <a:r>
              <a:rPr altLang="en-IN" b="1" dirty="0" sz="1400" lang="en-US">
                <a:solidFill>
                  <a:schemeClr val="accent1"/>
                </a:solidFill>
              </a:rPr>
              <a:t>6</a:t>
            </a:r>
            <a:endParaRPr dirty="0" sz="1400" lang="en-US"/>
          </a:p>
          <a:p>
            <a:pPr indent="0" marL="0">
              <a:buNone/>
            </a:pPr>
            <a:r>
              <a:rPr altLang="en-IN" b="1" dirty="0" sz="1400" lang="en-US">
                <a:solidFill>
                  <a:schemeClr val="accent1"/>
                </a:solidFill>
              </a:rPr>
              <a:t>K</a:t>
            </a:r>
            <a:r>
              <a:rPr altLang="en-IN" b="1" dirty="0" sz="1400" lang="en-US">
                <a:solidFill>
                  <a:schemeClr val="accent1"/>
                </a:solidFill>
              </a:rPr>
              <a:t>.</a:t>
            </a:r>
            <a:r>
              <a:rPr altLang="en-IN" b="1" dirty="0" sz="1400" lang="en-US">
                <a:solidFill>
                  <a:schemeClr val="accent1"/>
                </a:solidFill>
              </a:rPr>
              <a:t>N</a:t>
            </a:r>
            <a:r>
              <a:rPr altLang="en-IN" b="1" dirty="0" sz="1400" lang="en-US">
                <a:solidFill>
                  <a:schemeClr val="accent1"/>
                </a:solidFill>
              </a:rPr>
              <a:t>A</a:t>
            </a:r>
            <a:r>
              <a:rPr altLang="en-IN" b="1" dirty="0" sz="1400" lang="en-US">
                <a:solidFill>
                  <a:schemeClr val="accent1"/>
                </a:solidFill>
              </a:rPr>
              <a:t>R</a:t>
            </a:r>
            <a:r>
              <a:rPr altLang="en-IN" b="1" dirty="0" sz="1400" lang="en-US">
                <a:solidFill>
                  <a:schemeClr val="accent1"/>
                </a:solidFill>
              </a:rPr>
              <a:t>A</a:t>
            </a:r>
            <a:r>
              <a:rPr altLang="en-IN" b="1" dirty="0" sz="1400" lang="en-US">
                <a:solidFill>
                  <a:schemeClr val="accent1"/>
                </a:solidFill>
              </a:rPr>
              <a:t>S</a:t>
            </a:r>
            <a:r>
              <a:rPr altLang="en-IN" b="1" dirty="0" sz="1400" lang="en-US">
                <a:solidFill>
                  <a:schemeClr val="accent1"/>
                </a:solidFill>
              </a:rPr>
              <a:t>I</a:t>
            </a:r>
            <a:r>
              <a:rPr altLang="en-IN" b="1" dirty="0" sz="1400" lang="en-US">
                <a:solidFill>
                  <a:schemeClr val="accent1"/>
                </a:solidFill>
              </a:rPr>
              <a:t>M</a:t>
            </a:r>
            <a:r>
              <a:rPr altLang="en-IN" b="1" dirty="0" sz="1400" lang="en-US">
                <a:solidFill>
                  <a:schemeClr val="accent1"/>
                </a:solidFill>
              </a:rPr>
              <a:t>H</a:t>
            </a:r>
            <a:r>
              <a:rPr altLang="en-IN" b="1" dirty="0" sz="1400" lang="en-US">
                <a:solidFill>
                  <a:schemeClr val="accent1"/>
                </a:solidFill>
              </a:rPr>
              <a:t>A</a:t>
            </a:r>
            <a:r>
              <a:rPr altLang="en-IN" b="1" dirty="0" sz="1400" lang="en-US">
                <a:solidFill>
                  <a:schemeClr val="accent1"/>
                </a:solidFill>
              </a:rPr>
              <a:t> </a:t>
            </a:r>
            <a:r>
              <a:rPr altLang="en-IN" b="1" dirty="0" sz="1400" lang="en-US">
                <a:solidFill>
                  <a:schemeClr val="accent1"/>
                </a:solidFill>
              </a:rPr>
              <a:t>-</a:t>
            </a:r>
            <a:r>
              <a:rPr altLang="en-IN" b="1" dirty="0" sz="1400" lang="en-US">
                <a:solidFill>
                  <a:schemeClr val="accent1"/>
                </a:solidFill>
              </a:rPr>
              <a:t> </a:t>
            </a:r>
            <a:r>
              <a:rPr altLang="en-IN" b="1" dirty="0" sz="1400" lang="en-US">
                <a:solidFill>
                  <a:schemeClr val="accent1"/>
                </a:solidFill>
              </a:rPr>
              <a:t>2</a:t>
            </a:r>
            <a:r>
              <a:rPr altLang="en-IN" b="1" dirty="0" sz="1400" lang="en-US">
                <a:solidFill>
                  <a:schemeClr val="accent1"/>
                </a:solidFill>
              </a:rPr>
              <a:t>5</a:t>
            </a:r>
            <a:r>
              <a:rPr altLang="en-IN" b="1" dirty="0" sz="1400" lang="en-US">
                <a:solidFill>
                  <a:schemeClr val="accent1"/>
                </a:solidFill>
              </a:rPr>
              <a:t>M</a:t>
            </a:r>
            <a:r>
              <a:rPr altLang="en-IN" b="1" dirty="0" sz="1400" lang="en-US">
                <a:solidFill>
                  <a:schemeClr val="accent1"/>
                </a:solidFill>
              </a:rPr>
              <a:t>V</a:t>
            </a:r>
            <a:r>
              <a:rPr altLang="en-IN" b="1" dirty="0" sz="1400" lang="en-US">
                <a:solidFill>
                  <a:schemeClr val="accent1"/>
                </a:solidFill>
              </a:rPr>
              <a:t>C</a:t>
            </a:r>
            <a:r>
              <a:rPr altLang="en-IN" b="1" dirty="0" sz="1400" lang="en-US">
                <a:solidFill>
                  <a:schemeClr val="accent1"/>
                </a:solidFill>
              </a:rPr>
              <a:t>S</a:t>
            </a:r>
            <a:r>
              <a:rPr altLang="en-IN" b="1" dirty="0" sz="1400" lang="en-US">
                <a:solidFill>
                  <a:schemeClr val="accent1"/>
                </a:solidFill>
              </a:rPr>
              <a:t>M</a:t>
            </a:r>
            <a:r>
              <a:rPr altLang="en-IN" b="1" dirty="0" sz="1400" lang="en-US">
                <a:solidFill>
                  <a:schemeClr val="accent1"/>
                </a:solidFill>
              </a:rPr>
              <a:t>R</a:t>
            </a:r>
            <a:r>
              <a:rPr altLang="en-IN" b="1" dirty="0" sz="1400" lang="en-US">
                <a:solidFill>
                  <a:schemeClr val="accent1"/>
                </a:solidFill>
              </a:rPr>
              <a:t>0</a:t>
            </a:r>
            <a:r>
              <a:rPr altLang="en-IN" b="1" dirty="0" sz="1400" lang="en-US">
                <a:solidFill>
                  <a:schemeClr val="accent1"/>
                </a:solidFill>
              </a:rPr>
              <a:t>1</a:t>
            </a:r>
            <a:r>
              <a:rPr altLang="en-IN" b="1" dirty="0" sz="1400" lang="en-US">
                <a:solidFill>
                  <a:schemeClr val="accent1"/>
                </a:solidFill>
              </a:rPr>
              <a:t>2</a:t>
            </a:r>
            <a:r>
              <a:rPr altLang="en-IN" b="1" dirty="0" sz="1400" lang="en-US">
                <a:solidFill>
                  <a:schemeClr val="accent1"/>
                </a:solidFill>
              </a:rPr>
              <a:t>7</a:t>
            </a:r>
            <a:endParaRPr dirty="0" sz="1400" lang="en-US"/>
          </a:p>
          <a:p>
            <a:pPr indent="0" marL="0">
              <a:buNone/>
            </a:pPr>
            <a:r>
              <a:rPr altLang="en-IN" b="1" dirty="0" sz="1400" lang="en-US">
                <a:solidFill>
                  <a:schemeClr val="accent1"/>
                </a:solidFill>
              </a:rPr>
              <a:t>N</a:t>
            </a:r>
            <a:r>
              <a:rPr altLang="en-IN" b="1" dirty="0" sz="1400" lang="en-US">
                <a:solidFill>
                  <a:schemeClr val="accent1"/>
                </a:solidFill>
              </a:rPr>
              <a:t>.</a:t>
            </a:r>
            <a:r>
              <a:rPr altLang="en-IN" b="1" dirty="0" sz="1400" lang="en-US">
                <a:solidFill>
                  <a:schemeClr val="accent1"/>
                </a:solidFill>
              </a:rPr>
              <a:t>J</a:t>
            </a:r>
            <a:r>
              <a:rPr altLang="en-IN" b="1" dirty="0" sz="1400" lang="en-US">
                <a:solidFill>
                  <a:schemeClr val="accent1"/>
                </a:solidFill>
              </a:rPr>
              <a:t>O</a:t>
            </a:r>
            <a:r>
              <a:rPr altLang="en-IN" b="1" dirty="0" sz="1400" lang="en-US">
                <a:solidFill>
                  <a:schemeClr val="accent1"/>
                </a:solidFill>
              </a:rPr>
              <a:t>E</a:t>
            </a:r>
            <a:r>
              <a:rPr altLang="en-IN" b="1" dirty="0" sz="1400" lang="en-US">
                <a:solidFill>
                  <a:schemeClr val="accent1"/>
                </a:solidFill>
              </a:rPr>
              <a:t>L</a:t>
            </a:r>
            <a:r>
              <a:rPr altLang="en-IN" b="1" dirty="0" sz="1400" lang="en-US">
                <a:solidFill>
                  <a:schemeClr val="accent1"/>
                </a:solidFill>
              </a:rPr>
              <a:t> </a:t>
            </a:r>
            <a:r>
              <a:rPr altLang="en-IN" b="1" dirty="0" sz="1400" lang="en-US">
                <a:solidFill>
                  <a:schemeClr val="accent1"/>
                </a:solidFill>
              </a:rPr>
              <a:t>-</a:t>
            </a:r>
            <a:r>
              <a:rPr altLang="en-IN" b="1" dirty="0" sz="1400" lang="en-US">
                <a:solidFill>
                  <a:schemeClr val="accent1"/>
                </a:solidFill>
              </a:rPr>
              <a:t> </a:t>
            </a:r>
            <a:r>
              <a:rPr altLang="en-IN" b="1" dirty="0" sz="1400" lang="en-US">
                <a:solidFill>
                  <a:schemeClr val="accent1"/>
                </a:solidFill>
              </a:rPr>
              <a:t>2</a:t>
            </a:r>
            <a:r>
              <a:rPr altLang="en-IN" b="1" dirty="0" sz="1400" lang="en-US">
                <a:solidFill>
                  <a:schemeClr val="accent1"/>
                </a:solidFill>
              </a:rPr>
              <a:t>5</a:t>
            </a:r>
            <a:r>
              <a:rPr altLang="en-IN" b="1" dirty="0" sz="1400" lang="en-US">
                <a:solidFill>
                  <a:schemeClr val="accent1"/>
                </a:solidFill>
              </a:rPr>
              <a:t>M</a:t>
            </a:r>
            <a:r>
              <a:rPr altLang="en-IN" b="1" dirty="0" sz="1400" lang="en-US">
                <a:solidFill>
                  <a:schemeClr val="accent1"/>
                </a:solidFill>
              </a:rPr>
              <a:t>V</a:t>
            </a:r>
            <a:r>
              <a:rPr altLang="en-IN" b="1" dirty="0" sz="1400" lang="en-US">
                <a:solidFill>
                  <a:schemeClr val="accent1"/>
                </a:solidFill>
              </a:rPr>
              <a:t>C</a:t>
            </a:r>
            <a:r>
              <a:rPr altLang="en-IN" b="1" dirty="0" sz="1400" lang="en-US">
                <a:solidFill>
                  <a:schemeClr val="accent1"/>
                </a:solidFill>
              </a:rPr>
              <a:t>S</a:t>
            </a:r>
            <a:r>
              <a:rPr altLang="en-IN" b="1" dirty="0" sz="1400" lang="en-US">
                <a:solidFill>
                  <a:schemeClr val="accent1"/>
                </a:solidFill>
              </a:rPr>
              <a:t>M</a:t>
            </a:r>
            <a:r>
              <a:rPr altLang="en-IN" b="1" dirty="0" sz="1400" lang="en-US">
                <a:solidFill>
                  <a:schemeClr val="accent1"/>
                </a:solidFill>
              </a:rPr>
              <a:t>R</a:t>
            </a:r>
            <a:r>
              <a:rPr altLang="en-IN" b="1" dirty="0" sz="1400" lang="en-US">
                <a:solidFill>
                  <a:schemeClr val="accent1"/>
                </a:solidFill>
              </a:rPr>
              <a:t>0</a:t>
            </a:r>
            <a:r>
              <a:rPr altLang="en-IN" b="1" dirty="0" sz="1400" lang="en-US">
                <a:solidFill>
                  <a:schemeClr val="accent1"/>
                </a:solidFill>
              </a:rPr>
              <a:t>1</a:t>
            </a:r>
            <a:r>
              <a:rPr altLang="en-IN" b="1" dirty="0" sz="1400" lang="en-US">
                <a:solidFill>
                  <a:schemeClr val="accent1"/>
                </a:solidFill>
              </a:rPr>
              <a:t>5</a:t>
            </a:r>
            <a:r>
              <a:rPr altLang="en-IN" b="1" dirty="0" sz="1400" lang="en-US">
                <a:solidFill>
                  <a:schemeClr val="accent1"/>
                </a:solidFill>
              </a:rPr>
              <a:t>1</a:t>
            </a:r>
            <a:endParaRPr dirty="0" sz="1400" lang="en-US"/>
          </a:p>
        </p:txBody>
      </p:sp>
      <p:sp>
        <p:nvSpPr>
          <p:cNvPr id="1048582" name="Hero ring"/>
          <p:cNvSpPr/>
          <p:nvPr/>
        </p:nvSpPr>
        <p:spPr>
          <a:xfrm>
            <a:off x="5577840" y="914400"/>
            <a:ext cx="3108960" cy="3108960"/>
          </a:xfrm>
          <a:prstGeom prst="ellipse"/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48583" name="Hero search circle"/>
          <p:cNvSpPr/>
          <p:nvPr/>
        </p:nvSpPr>
        <p:spPr>
          <a:xfrm>
            <a:off x="6355080" y="1691640"/>
            <a:ext cx="1554480" cy="1554480"/>
          </a:xfrm>
          <a:prstGeom prst="ellipse"/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97152" name="Hero search icon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743700" y="2080260"/>
            <a:ext cx="777240" cy="777240"/>
          </a:xfrm>
          <a:prstGeom prst="rect"/>
        </p:spPr>
      </p:pic>
      <p:sp>
        <p:nvSpPr>
          <p:cNvPr id="1048584" name="Tag circle"/>
          <p:cNvSpPr/>
          <p:nvPr/>
        </p:nvSpPr>
        <p:spPr>
          <a:xfrm>
            <a:off x="5166360" y="640080"/>
            <a:ext cx="777240" cy="777240"/>
          </a:xfrm>
          <a:prstGeom prst="ellipse"/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97153" name="Tag icon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5360670" y="834390"/>
            <a:ext cx="388620" cy="388620"/>
          </a:xfrm>
          <a:prstGeom prst="rect"/>
        </p:spPr>
      </p:pic>
      <p:sp>
        <p:nvSpPr>
          <p:cNvPr id="1048585" name="Location circle"/>
          <p:cNvSpPr/>
          <p:nvPr/>
        </p:nvSpPr>
        <p:spPr>
          <a:xfrm>
            <a:off x="7909560" y="1325880"/>
            <a:ext cx="777240" cy="777240"/>
          </a:xfrm>
          <a:prstGeom prst="ellipse"/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97154" name="Location icon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8103870" y="1520190"/>
            <a:ext cx="388620" cy="388620"/>
          </a:xfrm>
          <a:prstGeom prst="rect"/>
        </p:spPr>
      </p:pic>
      <p:sp>
        <p:nvSpPr>
          <p:cNvPr id="1048586" name="Date circle"/>
          <p:cNvSpPr/>
          <p:nvPr/>
        </p:nvSpPr>
        <p:spPr>
          <a:xfrm>
            <a:off x="6675120" y="3566160"/>
            <a:ext cx="777240" cy="777240"/>
          </a:xfrm>
          <a:prstGeom prst="ellipse"/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97155" name="Date icon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6869430" y="3760470"/>
            <a:ext cx="388620" cy="388620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3600" lang="en-US">
                <a:solidFill>
                  <a:schemeClr val="tx2"/>
                </a:solidFill>
              </a:rPr>
              <a:t>Problem &amp; Objectives</a:t>
            </a:r>
            <a:endParaRPr dirty="0" sz="3600" lang="en-US"/>
          </a:p>
        </p:txBody>
      </p:sp>
      <p:sp>
        <p:nvSpPr>
          <p:cNvPr id="1048593" name="Problem card"/>
          <p:cNvSpPr/>
          <p:nvPr/>
        </p:nvSpPr>
        <p:spPr>
          <a:xfrm>
            <a:off x="457200" y="1234440"/>
            <a:ext cx="3566160" cy="3383280"/>
          </a:xfrm>
          <a:prstGeom prst="rect"/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48594" name="Text 2"/>
          <p:cNvSpPr txBox="1"/>
          <p:nvPr/>
        </p:nvSpPr>
        <p:spPr>
          <a:xfrm>
            <a:off x="685800" y="1417320"/>
            <a:ext cx="31089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kern="0" lang="en-US" spc="100">
                <a:solidFill>
                  <a:schemeClr val="tx2"/>
                </a:solidFill>
              </a:rPr>
              <a:t>PROBLEM STATEMENT</a:t>
            </a:r>
            <a:endParaRPr dirty="0" sz="1200" lang="en-US"/>
          </a:p>
        </p:txBody>
      </p:sp>
      <p:sp>
        <p:nvSpPr>
          <p:cNvPr id="1048595" name="Text 3"/>
          <p:cNvSpPr txBox="1"/>
          <p:nvPr/>
        </p:nvSpPr>
        <p:spPr>
          <a:xfrm>
            <a:off x="685800" y="1783080"/>
            <a:ext cx="3108960" cy="26517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spcAft>
                <a:spcPts val="1000"/>
              </a:spcAft>
              <a:buNone/>
            </a:pPr>
            <a:r>
              <a:rPr dirty="0" sz="1500" lang="en-US">
                <a:solidFill>
                  <a:schemeClr val="tx1"/>
                </a:solidFill>
              </a:rPr>
              <a:t>Lost belongings on campus have no central, searchable record. Notice boards and group chats rarely connect owners with finders.</a:t>
            </a:r>
            <a:endParaRPr dirty="0" sz="1500" lang="en-US"/>
          </a:p>
          <a:p>
            <a:pPr indent="0" marL="0">
              <a:buNone/>
            </a:pPr>
            <a:r>
              <a:rPr b="1" dirty="0" sz="1500" lang="en-US">
                <a:solidFill>
                  <a:schemeClr val="tx2"/>
                </a:solidFill>
              </a:rPr>
              <a:t>Our solution: a MERN portal to report, search and manage lost &amp; found items.</a:t>
            </a:r>
            <a:endParaRPr dirty="0" sz="1500" lang="en-US"/>
          </a:p>
        </p:txBody>
      </p:sp>
      <p:sp>
        <p:nvSpPr>
          <p:cNvPr id="1048596" name="Obj num 1"/>
          <p:cNvSpPr/>
          <p:nvPr/>
        </p:nvSpPr>
        <p:spPr>
          <a:xfrm>
            <a:off x="4434840" y="1234440"/>
            <a:ext cx="420624" cy="420624"/>
          </a:xfrm>
          <a:prstGeom prst="ellipse"/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48597" name="Text 5"/>
          <p:cNvSpPr txBox="1"/>
          <p:nvPr/>
        </p:nvSpPr>
        <p:spPr>
          <a:xfrm>
            <a:off x="4434840" y="1234440"/>
            <a:ext cx="420624" cy="42062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chemeClr val="tx1"/>
                </a:solidFill>
              </a:rPr>
              <a:t>1</a:t>
            </a:r>
            <a:endParaRPr dirty="0" sz="1400" lang="en-US"/>
          </a:p>
        </p:txBody>
      </p:sp>
      <p:sp>
        <p:nvSpPr>
          <p:cNvPr id="1048598" name="Text 6"/>
          <p:cNvSpPr txBox="1"/>
          <p:nvPr/>
        </p:nvSpPr>
        <p:spPr>
          <a:xfrm>
            <a:off x="5029200" y="1216152"/>
            <a:ext cx="365760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chemeClr val="tx1"/>
                </a:solidFill>
              </a:rPr>
              <a:t>Demonstrate MERN stack development</a:t>
            </a:r>
            <a:endParaRPr dirty="0" sz="1400" lang="en-US"/>
          </a:p>
        </p:txBody>
      </p:sp>
      <p:sp>
        <p:nvSpPr>
          <p:cNvPr id="1048599" name="Obj num 2"/>
          <p:cNvSpPr/>
          <p:nvPr/>
        </p:nvSpPr>
        <p:spPr>
          <a:xfrm>
            <a:off x="4434840" y="1819656"/>
            <a:ext cx="420624" cy="420624"/>
          </a:xfrm>
          <a:prstGeom prst="ellipse"/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48600" name="Text 8"/>
          <p:cNvSpPr txBox="1"/>
          <p:nvPr/>
        </p:nvSpPr>
        <p:spPr>
          <a:xfrm>
            <a:off x="4434840" y="1819656"/>
            <a:ext cx="420624" cy="42062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chemeClr val="tx1"/>
                </a:solidFill>
              </a:rPr>
              <a:t>2</a:t>
            </a:r>
            <a:endParaRPr dirty="0" sz="1400" lang="en-US"/>
          </a:p>
        </p:txBody>
      </p:sp>
      <p:sp>
        <p:nvSpPr>
          <p:cNvPr id="1048601" name="Text 9"/>
          <p:cNvSpPr txBox="1"/>
          <p:nvPr/>
        </p:nvSpPr>
        <p:spPr>
          <a:xfrm>
            <a:off x="5029200" y="1801368"/>
            <a:ext cx="365760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chemeClr val="tx1"/>
                </a:solidFill>
              </a:rPr>
              <a:t>Implement CRUD operations with MongoDB</a:t>
            </a:r>
            <a:endParaRPr dirty="0" sz="1400" lang="en-US"/>
          </a:p>
        </p:txBody>
      </p:sp>
      <p:sp>
        <p:nvSpPr>
          <p:cNvPr id="1048602" name="Obj num 3"/>
          <p:cNvSpPr/>
          <p:nvPr/>
        </p:nvSpPr>
        <p:spPr>
          <a:xfrm>
            <a:off x="4434840" y="2404872"/>
            <a:ext cx="420624" cy="420624"/>
          </a:xfrm>
          <a:prstGeom prst="ellipse"/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48603" name="Text 11"/>
          <p:cNvSpPr txBox="1"/>
          <p:nvPr/>
        </p:nvSpPr>
        <p:spPr>
          <a:xfrm>
            <a:off x="4434840" y="2404872"/>
            <a:ext cx="420624" cy="42062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chemeClr val="tx1"/>
                </a:solidFill>
              </a:rPr>
              <a:t>3</a:t>
            </a:r>
            <a:endParaRPr dirty="0" sz="1400" lang="en-US"/>
          </a:p>
        </p:txBody>
      </p:sp>
      <p:sp>
        <p:nvSpPr>
          <p:cNvPr id="1048604" name="Text 12"/>
          <p:cNvSpPr txBox="1"/>
          <p:nvPr/>
        </p:nvSpPr>
        <p:spPr>
          <a:xfrm>
            <a:off x="5029200" y="2386584"/>
            <a:ext cx="365760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chemeClr val="tx1"/>
                </a:solidFill>
              </a:rPr>
              <a:t>Build REST APIs with Node.js &amp; Express.js</a:t>
            </a:r>
            <a:endParaRPr dirty="0" sz="1400" lang="en-US"/>
          </a:p>
        </p:txBody>
      </p:sp>
      <p:sp>
        <p:nvSpPr>
          <p:cNvPr id="1048605" name="Obj num 4"/>
          <p:cNvSpPr/>
          <p:nvPr/>
        </p:nvSpPr>
        <p:spPr>
          <a:xfrm>
            <a:off x="4434840" y="2990088"/>
            <a:ext cx="420624" cy="420624"/>
          </a:xfrm>
          <a:prstGeom prst="ellipse"/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48606" name="Text 14"/>
          <p:cNvSpPr txBox="1"/>
          <p:nvPr/>
        </p:nvSpPr>
        <p:spPr>
          <a:xfrm>
            <a:off x="4434840" y="2990088"/>
            <a:ext cx="420624" cy="42062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chemeClr val="tx1"/>
                </a:solidFill>
              </a:rPr>
              <a:t>4</a:t>
            </a:r>
            <a:endParaRPr dirty="0" sz="1400" lang="en-US"/>
          </a:p>
        </p:txBody>
      </p:sp>
      <p:sp>
        <p:nvSpPr>
          <p:cNvPr id="1048607" name="Text 15"/>
          <p:cNvSpPr txBox="1"/>
          <p:nvPr/>
        </p:nvSpPr>
        <p:spPr>
          <a:xfrm>
            <a:off x="5029200" y="2971800"/>
            <a:ext cx="365760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chemeClr val="tx1"/>
                </a:solidFill>
              </a:rPr>
              <a:t>Develop the frontend with React.js</a:t>
            </a:r>
            <a:endParaRPr dirty="0" sz="1400" lang="en-US"/>
          </a:p>
        </p:txBody>
      </p:sp>
      <p:sp>
        <p:nvSpPr>
          <p:cNvPr id="1048608" name="Obj num 5"/>
          <p:cNvSpPr/>
          <p:nvPr/>
        </p:nvSpPr>
        <p:spPr>
          <a:xfrm>
            <a:off x="4434840" y="3575304"/>
            <a:ext cx="420624" cy="420624"/>
          </a:xfrm>
          <a:prstGeom prst="ellipse"/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48609" name="Text 17"/>
          <p:cNvSpPr txBox="1"/>
          <p:nvPr/>
        </p:nvSpPr>
        <p:spPr>
          <a:xfrm>
            <a:off x="4434840" y="3575304"/>
            <a:ext cx="420624" cy="42062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chemeClr val="tx1"/>
                </a:solidFill>
              </a:rPr>
              <a:t>5</a:t>
            </a:r>
            <a:endParaRPr dirty="0" sz="1400" lang="en-US"/>
          </a:p>
        </p:txBody>
      </p:sp>
      <p:sp>
        <p:nvSpPr>
          <p:cNvPr id="1048610" name="Text 18"/>
          <p:cNvSpPr txBox="1"/>
          <p:nvPr/>
        </p:nvSpPr>
        <p:spPr>
          <a:xfrm>
            <a:off x="5029200" y="3557016"/>
            <a:ext cx="365760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chemeClr val="tx1"/>
                </a:solidFill>
              </a:rPr>
              <a:t>Add authentication &amp; role-based access</a:t>
            </a:r>
            <a:endParaRPr dirty="0" sz="1400" lang="en-US"/>
          </a:p>
        </p:txBody>
      </p:sp>
      <p:sp>
        <p:nvSpPr>
          <p:cNvPr id="1048611" name="Obj num 6"/>
          <p:cNvSpPr/>
          <p:nvPr/>
        </p:nvSpPr>
        <p:spPr>
          <a:xfrm>
            <a:off x="4434840" y="4160520"/>
            <a:ext cx="420624" cy="420624"/>
          </a:xfrm>
          <a:prstGeom prst="ellipse"/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48612" name="Text 20"/>
          <p:cNvSpPr txBox="1"/>
          <p:nvPr/>
        </p:nvSpPr>
        <p:spPr>
          <a:xfrm>
            <a:off x="4434840" y="4160520"/>
            <a:ext cx="420624" cy="42062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chemeClr val="tx1"/>
                </a:solidFill>
              </a:rPr>
              <a:t>6</a:t>
            </a:r>
            <a:endParaRPr dirty="0" sz="1400" lang="en-US"/>
          </a:p>
        </p:txBody>
      </p:sp>
      <p:sp>
        <p:nvSpPr>
          <p:cNvPr id="1048613" name="Text 21"/>
          <p:cNvSpPr txBox="1"/>
          <p:nvPr/>
        </p:nvSpPr>
        <p:spPr>
          <a:xfrm>
            <a:off x="5029200" y="4142232"/>
            <a:ext cx="365760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chemeClr val="tx1"/>
                </a:solidFill>
              </a:rPr>
              <a:t>Display project information and results clearly</a:t>
            </a:r>
            <a:endParaRPr dirty="0" sz="1400" lang="en-US"/>
          </a:p>
        </p:txBody>
      </p:sp>
      <p:sp>
        <p:nvSpPr>
          <p:cNvPr id="104861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/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3600" lang="en-US">
                <a:solidFill>
                  <a:schemeClr val="tx2"/>
                </a:solidFill>
              </a:rPr>
              <a:t>Core Features</a:t>
            </a:r>
            <a:endParaRPr dirty="0" sz="3600" lang="en-US"/>
          </a:p>
        </p:txBody>
      </p:sp>
      <p:sp>
        <p:nvSpPr>
          <p:cNvPr id="1048619" name="Feature card Report Items"/>
          <p:cNvSpPr/>
          <p:nvPr/>
        </p:nvSpPr>
        <p:spPr>
          <a:xfrm>
            <a:off x="457200" y="1234440"/>
            <a:ext cx="2286000" cy="1600200"/>
          </a:xfrm>
          <a:prstGeom prst="rect"/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48620" name="Report Items circle"/>
          <p:cNvSpPr/>
          <p:nvPr/>
        </p:nvSpPr>
        <p:spPr>
          <a:xfrm>
            <a:off x="640080" y="1371600"/>
            <a:ext cx="457200" cy="457200"/>
          </a:xfrm>
          <a:prstGeom prst="ellipse"/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97156" name="Report Items icon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54380" y="1485900"/>
            <a:ext cx="228600" cy="228600"/>
          </a:xfrm>
          <a:prstGeom prst="rect"/>
        </p:spPr>
      </p:pic>
      <p:sp>
        <p:nvSpPr>
          <p:cNvPr id="1048621" name="Text 3"/>
          <p:cNvSpPr txBox="1"/>
          <p:nvPr/>
        </p:nvSpPr>
        <p:spPr>
          <a:xfrm>
            <a:off x="640080" y="1892808"/>
            <a:ext cx="201168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chemeClr val="tx1"/>
                </a:solidFill>
              </a:rPr>
              <a:t>Report Items</a:t>
            </a:r>
            <a:endParaRPr dirty="0" sz="1600" lang="en-US"/>
          </a:p>
        </p:txBody>
      </p:sp>
      <p:sp>
        <p:nvSpPr>
          <p:cNvPr id="1048622" name="Text 4"/>
          <p:cNvSpPr txBox="1"/>
          <p:nvPr/>
        </p:nvSpPr>
        <p:spPr>
          <a:xfrm>
            <a:off x="640080" y="2167128"/>
            <a:ext cx="2011680" cy="5943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chemeClr val="accent5"/>
                </a:solidFill>
              </a:rPr>
              <a:t>Post lost or found items with a photo</a:t>
            </a:r>
            <a:endParaRPr dirty="0" sz="1400" lang="en-US"/>
          </a:p>
        </p:txBody>
      </p:sp>
      <p:sp>
        <p:nvSpPr>
          <p:cNvPr id="1048623" name="Feature card Search &amp; Filter"/>
          <p:cNvSpPr/>
          <p:nvPr/>
        </p:nvSpPr>
        <p:spPr>
          <a:xfrm>
            <a:off x="2926080" y="1234440"/>
            <a:ext cx="2286000" cy="1600200"/>
          </a:xfrm>
          <a:prstGeom prst="rect"/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48624" name="Search &amp; Filter circle"/>
          <p:cNvSpPr/>
          <p:nvPr/>
        </p:nvSpPr>
        <p:spPr>
          <a:xfrm>
            <a:off x="3108960" y="1371600"/>
            <a:ext cx="457200" cy="457200"/>
          </a:xfrm>
          <a:prstGeom prst="ellipse"/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97157" name="Search &amp; Filter icon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3223260" y="1485900"/>
            <a:ext cx="228600" cy="228600"/>
          </a:xfrm>
          <a:prstGeom prst="rect"/>
        </p:spPr>
      </p:pic>
      <p:sp>
        <p:nvSpPr>
          <p:cNvPr id="1048625" name="Text 7"/>
          <p:cNvSpPr txBox="1"/>
          <p:nvPr/>
        </p:nvSpPr>
        <p:spPr>
          <a:xfrm>
            <a:off x="3108960" y="1892808"/>
            <a:ext cx="201168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chemeClr val="tx1"/>
                </a:solidFill>
              </a:rPr>
              <a:t>Search &amp; Filter</a:t>
            </a:r>
            <a:endParaRPr dirty="0" sz="1600" lang="en-US"/>
          </a:p>
        </p:txBody>
      </p:sp>
      <p:sp>
        <p:nvSpPr>
          <p:cNvPr id="1048626" name="Text 8"/>
          <p:cNvSpPr txBox="1"/>
          <p:nvPr/>
        </p:nvSpPr>
        <p:spPr>
          <a:xfrm>
            <a:off x="3108960" y="2167128"/>
            <a:ext cx="2011680" cy="5943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chemeClr val="accent5"/>
                </a:solidFill>
              </a:rPr>
              <a:t>Find by keyword, category or location</a:t>
            </a:r>
            <a:endParaRPr dirty="0" sz="1400" lang="en-US"/>
          </a:p>
        </p:txBody>
      </p:sp>
      <p:sp>
        <p:nvSpPr>
          <p:cNvPr id="1048627" name="Feature card Manage Records"/>
          <p:cNvSpPr/>
          <p:nvPr/>
        </p:nvSpPr>
        <p:spPr>
          <a:xfrm>
            <a:off x="457200" y="3017520"/>
            <a:ext cx="2286000" cy="1600200"/>
          </a:xfrm>
          <a:prstGeom prst="rect"/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48628" name="Manage Records circle"/>
          <p:cNvSpPr/>
          <p:nvPr/>
        </p:nvSpPr>
        <p:spPr>
          <a:xfrm>
            <a:off x="640080" y="3154680"/>
            <a:ext cx="457200" cy="457200"/>
          </a:xfrm>
          <a:prstGeom prst="ellipse"/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97158" name="Manage Records icon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754380" y="3268980"/>
            <a:ext cx="228600" cy="228600"/>
          </a:xfrm>
          <a:prstGeom prst="rect"/>
        </p:spPr>
      </p:pic>
      <p:sp>
        <p:nvSpPr>
          <p:cNvPr id="1048629" name="Text 11"/>
          <p:cNvSpPr txBox="1"/>
          <p:nvPr/>
        </p:nvSpPr>
        <p:spPr>
          <a:xfrm>
            <a:off x="640080" y="3675888"/>
            <a:ext cx="201168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chemeClr val="tx1"/>
                </a:solidFill>
              </a:rPr>
              <a:t>Manage Records</a:t>
            </a:r>
            <a:endParaRPr dirty="0" sz="1600" lang="en-US"/>
          </a:p>
        </p:txBody>
      </p:sp>
      <p:sp>
        <p:nvSpPr>
          <p:cNvPr id="1048630" name="Text 12"/>
          <p:cNvSpPr txBox="1"/>
          <p:nvPr/>
        </p:nvSpPr>
        <p:spPr>
          <a:xfrm>
            <a:off x="640080" y="3950208"/>
            <a:ext cx="2011680" cy="5943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chemeClr val="accent5"/>
                </a:solidFill>
              </a:rPr>
              <a:t>View, update and delete your posts</a:t>
            </a:r>
            <a:endParaRPr dirty="0" sz="1400" lang="en-US"/>
          </a:p>
        </p:txBody>
      </p:sp>
      <p:sp>
        <p:nvSpPr>
          <p:cNvPr id="1048631" name="Feature card Claim &amp; Resolve"/>
          <p:cNvSpPr/>
          <p:nvPr/>
        </p:nvSpPr>
        <p:spPr>
          <a:xfrm>
            <a:off x="2926080" y="3017520"/>
            <a:ext cx="2286000" cy="1600200"/>
          </a:xfrm>
          <a:prstGeom prst="rect"/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48632" name="Claim &amp; Resolve circle"/>
          <p:cNvSpPr/>
          <p:nvPr/>
        </p:nvSpPr>
        <p:spPr>
          <a:xfrm>
            <a:off x="3108960" y="3154680"/>
            <a:ext cx="457200" cy="457200"/>
          </a:xfrm>
          <a:prstGeom prst="ellipse"/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97159" name="Claim &amp; Resolve icon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3223260" y="3268980"/>
            <a:ext cx="228600" cy="228600"/>
          </a:xfrm>
          <a:prstGeom prst="rect"/>
        </p:spPr>
      </p:pic>
      <p:sp>
        <p:nvSpPr>
          <p:cNvPr id="1048633" name="Text 15"/>
          <p:cNvSpPr txBox="1"/>
          <p:nvPr/>
        </p:nvSpPr>
        <p:spPr>
          <a:xfrm>
            <a:off x="3108960" y="3675888"/>
            <a:ext cx="201168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chemeClr val="tx1"/>
                </a:solidFill>
              </a:rPr>
              <a:t>Claim &amp; Resolve</a:t>
            </a:r>
            <a:endParaRPr dirty="0" sz="1600" lang="en-US"/>
          </a:p>
        </p:txBody>
      </p:sp>
      <p:sp>
        <p:nvSpPr>
          <p:cNvPr id="1048634" name="Text 16"/>
          <p:cNvSpPr txBox="1"/>
          <p:nvPr/>
        </p:nvSpPr>
        <p:spPr>
          <a:xfrm>
            <a:off x="3108960" y="3950208"/>
            <a:ext cx="2011680" cy="5943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chemeClr val="accent5"/>
                </a:solidFill>
              </a:rPr>
              <a:t>Mark items as claimed once returned</a:t>
            </a:r>
            <a:endParaRPr dirty="0" sz="1400" lang="en-US"/>
          </a:p>
        </p:txBody>
      </p:sp>
      <p:sp>
        <p:nvSpPr>
          <p:cNvPr id="1048635" name="Item record panel"/>
          <p:cNvSpPr/>
          <p:nvPr/>
        </p:nvSpPr>
        <p:spPr>
          <a:xfrm>
            <a:off x="5394960" y="1234440"/>
            <a:ext cx="3291840" cy="3383280"/>
          </a:xfrm>
          <a:prstGeom prst="rect"/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48636" name="Text 18"/>
          <p:cNvSpPr txBox="1"/>
          <p:nvPr/>
        </p:nvSpPr>
        <p:spPr>
          <a:xfrm>
            <a:off x="5623560" y="1417320"/>
            <a:ext cx="283464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chemeClr val="accent1"/>
                </a:solidFill>
              </a:rPr>
              <a:t>Item Record in MongoDB</a:t>
            </a:r>
            <a:endParaRPr dirty="0" sz="1600" lang="en-US"/>
          </a:p>
        </p:txBody>
      </p:sp>
      <p:sp>
        <p:nvSpPr>
          <p:cNvPr id="1048637" name="Text 19"/>
          <p:cNvSpPr txBox="1"/>
          <p:nvPr/>
        </p:nvSpPr>
        <p:spPr>
          <a:xfrm>
            <a:off x="5623560" y="1828800"/>
            <a:ext cx="2834640" cy="2651760"/>
          </a:xfrm>
          <a:prstGeom prst="rect"/>
          <a:noFill/>
        </p:spPr>
        <p:txBody>
          <a:bodyPr anchor="t" bIns="0" lIns="0" rIns="0" rtlCol="0" tIns="0" wrap="square"/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chemeClr val="bg1"/>
                </a:solidFill>
              </a:rPr>
              <a:t>Item name</a:t>
            </a:r>
            <a:endParaRPr dirty="0" sz="14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chemeClr val="bg1"/>
                </a:solidFill>
              </a:rPr>
              <a:t>Category</a:t>
            </a:r>
            <a:endParaRPr dirty="0" sz="14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chemeClr val="bg1"/>
                </a:solidFill>
              </a:rPr>
              <a:t>Location</a:t>
            </a:r>
            <a:endParaRPr dirty="0" sz="14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chemeClr val="bg1"/>
                </a:solidFill>
              </a:rPr>
              <a:t>Date</a:t>
            </a:r>
            <a:endParaRPr dirty="0" sz="14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chemeClr val="bg1"/>
                </a:solidFill>
              </a:rPr>
              <a:t>Description</a:t>
            </a:r>
            <a:endParaRPr dirty="0" sz="14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chemeClr val="bg1"/>
                </a:solidFill>
              </a:rPr>
              <a:t>Image</a:t>
            </a:r>
            <a:endParaRPr dirty="0" sz="14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chemeClr val="bg1"/>
                </a:solidFill>
              </a:rPr>
              <a:t>Status (lost / found / claimed)</a:t>
            </a:r>
            <a:endParaRPr dirty="0" sz="1400" lang="en-US"/>
          </a:p>
        </p:txBody>
      </p:sp>
      <p:sp>
        <p:nvSpPr>
          <p:cNvPr id="10486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/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3600" lang="en-US">
                <a:solidFill>
                  <a:schemeClr val="tx2"/>
                </a:solidFill>
              </a:rPr>
              <a:t>System Architecture</a:t>
            </a:r>
            <a:endParaRPr dirty="0" sz="3600" lang="en-US"/>
          </a:p>
        </p:txBody>
      </p:sp>
      <p:sp>
        <p:nvSpPr>
          <p:cNvPr id="1048643" name="Tier card React.js"/>
          <p:cNvSpPr/>
          <p:nvPr/>
        </p:nvSpPr>
        <p:spPr>
          <a:xfrm>
            <a:off x="457200" y="1234440"/>
            <a:ext cx="2286000" cy="2103120"/>
          </a:xfrm>
          <a:prstGeom prst="rect"/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48644" name="React.js circle"/>
          <p:cNvSpPr/>
          <p:nvPr/>
        </p:nvSpPr>
        <p:spPr>
          <a:xfrm>
            <a:off x="640080" y="1371600"/>
            <a:ext cx="548640" cy="548640"/>
          </a:xfrm>
          <a:prstGeom prst="ellipse"/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97160" name="React.js icon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77240" y="1508760"/>
            <a:ext cx="274320" cy="274320"/>
          </a:xfrm>
          <a:prstGeom prst="rect"/>
        </p:spPr>
      </p:pic>
      <p:sp>
        <p:nvSpPr>
          <p:cNvPr id="1048645" name="Text 3"/>
          <p:cNvSpPr txBox="1"/>
          <p:nvPr/>
        </p:nvSpPr>
        <p:spPr>
          <a:xfrm>
            <a:off x="640080" y="2011680"/>
            <a:ext cx="1920240" cy="2286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kern="0" lang="en-US" spc="100">
                <a:solidFill>
                  <a:schemeClr val="accent5"/>
                </a:solidFill>
              </a:rPr>
              <a:t>FRONTEND</a:t>
            </a:r>
            <a:endParaRPr dirty="0" sz="1200" lang="en-US"/>
          </a:p>
        </p:txBody>
      </p:sp>
      <p:sp>
        <p:nvSpPr>
          <p:cNvPr id="1048646" name="Text 4"/>
          <p:cNvSpPr txBox="1"/>
          <p:nvPr/>
        </p:nvSpPr>
        <p:spPr>
          <a:xfrm>
            <a:off x="640080" y="2240280"/>
            <a:ext cx="192024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800" lang="en-US">
                <a:solidFill>
                  <a:schemeClr val="tx1"/>
                </a:solidFill>
              </a:rPr>
              <a:t>React.js</a:t>
            </a:r>
            <a:endParaRPr dirty="0" sz="1800" lang="en-US"/>
          </a:p>
        </p:txBody>
      </p:sp>
      <p:sp>
        <p:nvSpPr>
          <p:cNvPr id="1048647" name="Text 5"/>
          <p:cNvSpPr txBox="1"/>
          <p:nvPr/>
        </p:nvSpPr>
        <p:spPr>
          <a:xfrm>
            <a:off x="640080" y="2606040"/>
            <a:ext cx="192024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chemeClr val="tx1"/>
                </a:solidFill>
              </a:rPr>
              <a:t>Pages, forms, search UI and routing</a:t>
            </a:r>
            <a:endParaRPr dirty="0" sz="1400" lang="en-US"/>
          </a:p>
        </p:txBody>
      </p:sp>
      <p:sp>
        <p:nvSpPr>
          <p:cNvPr id="1048648" name="Arrow 1"/>
          <p:cNvSpPr/>
          <p:nvPr/>
        </p:nvSpPr>
        <p:spPr>
          <a:xfrm>
            <a:off x="2834640" y="2103120"/>
            <a:ext cx="502920" cy="365760"/>
          </a:xfrm>
          <a:prstGeom prst="rightArrow"/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48649" name="Tier card Node + Express"/>
          <p:cNvSpPr/>
          <p:nvPr/>
        </p:nvSpPr>
        <p:spPr>
          <a:xfrm>
            <a:off x="3429000" y="1234440"/>
            <a:ext cx="2286000" cy="2103120"/>
          </a:xfrm>
          <a:prstGeom prst="rect"/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48650" name="Node + Express circle"/>
          <p:cNvSpPr/>
          <p:nvPr/>
        </p:nvSpPr>
        <p:spPr>
          <a:xfrm>
            <a:off x="3611880" y="1371600"/>
            <a:ext cx="548640" cy="548640"/>
          </a:xfrm>
          <a:prstGeom prst="ellipse"/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97161" name="Node + Express icon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3749040" y="1508760"/>
            <a:ext cx="274320" cy="274320"/>
          </a:xfrm>
          <a:prstGeom prst="rect"/>
        </p:spPr>
      </p:pic>
      <p:sp>
        <p:nvSpPr>
          <p:cNvPr id="1048651" name="Text 9"/>
          <p:cNvSpPr txBox="1"/>
          <p:nvPr/>
        </p:nvSpPr>
        <p:spPr>
          <a:xfrm>
            <a:off x="3611880" y="2011680"/>
            <a:ext cx="1920240" cy="2286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kern="0" lang="en-US" spc="100">
                <a:solidFill>
                  <a:schemeClr val="accent5"/>
                </a:solidFill>
              </a:rPr>
              <a:t>REST API</a:t>
            </a:r>
            <a:endParaRPr dirty="0" sz="1200" lang="en-US"/>
          </a:p>
        </p:txBody>
      </p:sp>
      <p:sp>
        <p:nvSpPr>
          <p:cNvPr id="1048652" name="Text 10"/>
          <p:cNvSpPr txBox="1"/>
          <p:nvPr/>
        </p:nvSpPr>
        <p:spPr>
          <a:xfrm>
            <a:off x="3611880" y="2240280"/>
            <a:ext cx="192024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800" lang="en-US">
                <a:solidFill>
                  <a:schemeClr val="tx1"/>
                </a:solidFill>
              </a:rPr>
              <a:t>Node + Express</a:t>
            </a:r>
            <a:endParaRPr dirty="0" sz="1800" lang="en-US"/>
          </a:p>
        </p:txBody>
      </p:sp>
      <p:sp>
        <p:nvSpPr>
          <p:cNvPr id="1048653" name="Text 11"/>
          <p:cNvSpPr txBox="1"/>
          <p:nvPr/>
        </p:nvSpPr>
        <p:spPr>
          <a:xfrm>
            <a:off x="3611880" y="2606040"/>
            <a:ext cx="192024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chemeClr val="tx1"/>
                </a:solidFill>
              </a:rPr>
              <a:t>Endpoints, validation and JWT middleware</a:t>
            </a:r>
            <a:endParaRPr dirty="0" sz="1400" lang="en-US"/>
          </a:p>
        </p:txBody>
      </p:sp>
      <p:sp>
        <p:nvSpPr>
          <p:cNvPr id="1048654" name="Arrow 2"/>
          <p:cNvSpPr/>
          <p:nvPr/>
        </p:nvSpPr>
        <p:spPr>
          <a:xfrm>
            <a:off x="5806440" y="2103120"/>
            <a:ext cx="502920" cy="365760"/>
          </a:xfrm>
          <a:prstGeom prst="rightArrow"/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48655" name="Tier card MongoDB"/>
          <p:cNvSpPr/>
          <p:nvPr/>
        </p:nvSpPr>
        <p:spPr>
          <a:xfrm>
            <a:off x="6400800" y="1234440"/>
            <a:ext cx="2286000" cy="2103120"/>
          </a:xfrm>
          <a:prstGeom prst="rect"/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48656" name="MongoDB circle"/>
          <p:cNvSpPr/>
          <p:nvPr/>
        </p:nvSpPr>
        <p:spPr>
          <a:xfrm>
            <a:off x="6583680" y="1371600"/>
            <a:ext cx="548640" cy="548640"/>
          </a:xfrm>
          <a:prstGeom prst="ellipse"/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97162" name="MongoDB icon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720840" y="1508760"/>
            <a:ext cx="274320" cy="274320"/>
          </a:xfrm>
          <a:prstGeom prst="rect"/>
        </p:spPr>
      </p:pic>
      <p:sp>
        <p:nvSpPr>
          <p:cNvPr id="1048657" name="Text 15"/>
          <p:cNvSpPr txBox="1"/>
          <p:nvPr/>
        </p:nvSpPr>
        <p:spPr>
          <a:xfrm>
            <a:off x="6583680" y="2011680"/>
            <a:ext cx="1920240" cy="2286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kern="0" lang="en-US" spc="100">
                <a:solidFill>
                  <a:schemeClr val="accent5"/>
                </a:solidFill>
              </a:rPr>
              <a:t>DATABASE</a:t>
            </a:r>
            <a:endParaRPr dirty="0" sz="1200" lang="en-US"/>
          </a:p>
        </p:txBody>
      </p:sp>
      <p:sp>
        <p:nvSpPr>
          <p:cNvPr id="1048658" name="Text 16"/>
          <p:cNvSpPr txBox="1"/>
          <p:nvPr/>
        </p:nvSpPr>
        <p:spPr>
          <a:xfrm>
            <a:off x="6583680" y="2240280"/>
            <a:ext cx="192024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800" lang="en-US">
                <a:solidFill>
                  <a:schemeClr val="tx1"/>
                </a:solidFill>
              </a:rPr>
              <a:t>MongoDB</a:t>
            </a:r>
            <a:endParaRPr dirty="0" sz="1800" lang="en-US"/>
          </a:p>
        </p:txBody>
      </p:sp>
      <p:sp>
        <p:nvSpPr>
          <p:cNvPr id="1048659" name="Text 17"/>
          <p:cNvSpPr txBox="1"/>
          <p:nvPr/>
        </p:nvSpPr>
        <p:spPr>
          <a:xfrm>
            <a:off x="6583680" y="2606040"/>
            <a:ext cx="192024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chemeClr val="tx1"/>
                </a:solidFill>
              </a:rPr>
              <a:t>Users and Items collections via Mongoose</a:t>
            </a:r>
            <a:endParaRPr dirty="0" sz="1400" lang="en-US"/>
          </a:p>
        </p:txBody>
      </p:sp>
      <p:sp>
        <p:nvSpPr>
          <p:cNvPr id="1048660" name="Text 18"/>
          <p:cNvSpPr txBox="1"/>
          <p:nvPr/>
        </p:nvSpPr>
        <p:spPr>
          <a:xfrm>
            <a:off x="457200" y="3566160"/>
            <a:ext cx="3657600" cy="2286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kern="0" lang="en-US" spc="100">
                <a:solidFill>
                  <a:schemeClr val="accent5"/>
                </a:solidFill>
              </a:rPr>
              <a:t>SUPPORTING LIBRARIES</a:t>
            </a:r>
            <a:endParaRPr dirty="0" sz="1200" lang="en-US"/>
          </a:p>
        </p:txBody>
      </p:sp>
      <p:sp>
        <p:nvSpPr>
          <p:cNvPr id="1048661" name="Chip JWT + bcrypt"/>
          <p:cNvSpPr/>
          <p:nvPr/>
        </p:nvSpPr>
        <p:spPr>
          <a:xfrm>
            <a:off x="457200" y="3886200"/>
            <a:ext cx="192024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48662" name="Text 20"/>
          <p:cNvSpPr txBox="1"/>
          <p:nvPr/>
        </p:nvSpPr>
        <p:spPr>
          <a:xfrm>
            <a:off x="457200" y="3886200"/>
            <a:ext cx="192024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chemeClr val="bg1"/>
                </a:solidFill>
              </a:rPr>
              <a:t>JWT + bcrypt</a:t>
            </a:r>
            <a:endParaRPr dirty="0" sz="1400" lang="en-US"/>
          </a:p>
        </p:txBody>
      </p:sp>
      <p:sp>
        <p:nvSpPr>
          <p:cNvPr id="1048663" name="Chip Mongoose ODM"/>
          <p:cNvSpPr/>
          <p:nvPr/>
        </p:nvSpPr>
        <p:spPr>
          <a:xfrm>
            <a:off x="2560320" y="3886200"/>
            <a:ext cx="192024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48664" name="Text 22"/>
          <p:cNvSpPr txBox="1"/>
          <p:nvPr/>
        </p:nvSpPr>
        <p:spPr>
          <a:xfrm>
            <a:off x="2560320" y="3886200"/>
            <a:ext cx="192024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chemeClr val="bg1"/>
                </a:solidFill>
              </a:rPr>
              <a:t>Mongoose ODM</a:t>
            </a:r>
            <a:endParaRPr dirty="0" sz="1400" lang="en-US"/>
          </a:p>
        </p:txBody>
      </p:sp>
      <p:sp>
        <p:nvSpPr>
          <p:cNvPr id="1048665" name="Chip Multer uploads"/>
          <p:cNvSpPr/>
          <p:nvPr/>
        </p:nvSpPr>
        <p:spPr>
          <a:xfrm>
            <a:off x="4663440" y="3886200"/>
            <a:ext cx="192024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48666" name="Text 24"/>
          <p:cNvSpPr txBox="1"/>
          <p:nvPr/>
        </p:nvSpPr>
        <p:spPr>
          <a:xfrm>
            <a:off x="4663440" y="3886200"/>
            <a:ext cx="192024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chemeClr val="bg1"/>
                </a:solidFill>
              </a:rPr>
              <a:t>Multer uploads</a:t>
            </a:r>
            <a:endParaRPr dirty="0" sz="1400" lang="en-US"/>
          </a:p>
        </p:txBody>
      </p:sp>
      <p:sp>
        <p:nvSpPr>
          <p:cNvPr id="1048667" name="Chip Axios + Router"/>
          <p:cNvSpPr/>
          <p:nvPr/>
        </p:nvSpPr>
        <p:spPr>
          <a:xfrm>
            <a:off x="6766560" y="3886200"/>
            <a:ext cx="192024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48668" name="Text 26"/>
          <p:cNvSpPr txBox="1"/>
          <p:nvPr/>
        </p:nvSpPr>
        <p:spPr>
          <a:xfrm>
            <a:off x="6766560" y="3886200"/>
            <a:ext cx="192024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chemeClr val="bg1"/>
                </a:solidFill>
              </a:rPr>
              <a:t>Axios + Router</a:t>
            </a:r>
            <a:endParaRPr dirty="0" sz="1400" lang="en-US"/>
          </a:p>
        </p:txBody>
      </p:sp>
      <p:sp>
        <p:nvSpPr>
          <p:cNvPr id="104866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/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3600" lang="en-US">
                <a:solidFill>
                  <a:schemeClr val="tx2"/>
                </a:solidFill>
              </a:rPr>
              <a:t>Database &amp; REST API</a:t>
            </a:r>
            <a:endParaRPr dirty="0" sz="3600" lang="en-US"/>
          </a:p>
        </p:txBody>
      </p:sp>
      <p:graphicFrame>
        <p:nvGraphicFramePr>
          <p:cNvPr id="4194304" name="Endpoints table"/>
          <p:cNvGraphicFramePr>
            <a:graphicFrameLocks noGrp="1"/>
          </p:cNvGraphicFramePr>
          <p:nvPr/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00400"/>
                <a:gridCol w="3931920"/>
              </a:tblGrid>
              <a:tr h="36576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400" lang="en-US">
                          <a:solidFill>
                            <a:srgbClr val="FFFFFF"/>
                          </a:solidFill>
                        </a:rPr>
                        <a:t>Method</a:t>
                      </a:r>
                      <a:endParaRPr dirty="0" sz="1400" lang="en-US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400" lang="en-US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dirty="0" sz="1400" lang="en-US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400" lang="en-US">
                          <a:solidFill>
                            <a:srgbClr val="FFFFFF"/>
                          </a:solidFill>
                        </a:rPr>
                        <a:t>Purpose</a:t>
                      </a:r>
                      <a:endParaRPr dirty="0" sz="1400" lang="en-US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400" lang="en-US">
                          <a:solidFill>
                            <a:srgbClr val="FFFFFF"/>
                          </a:solidFill>
                        </a:rPr>
                        <a:t>POST</a:t>
                      </a:r>
                      <a:endParaRPr dirty="0" sz="1400" lang="en-US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9E8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02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/api/auth/login</a:t>
                      </a:r>
                      <a:endParaRPr dirty="0" sz="14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0292B"/>
                          </a:solidFill>
                        </a:rPr>
                        <a:t>Log in and receive a JWT</a:t>
                      </a:r>
                      <a:endParaRPr dirty="0" sz="1400" lang="en-US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400" lang="en-US">
                          <a:solidFill>
                            <a:srgbClr val="FFFFFF"/>
                          </a:solidFill>
                        </a:rPr>
                        <a:t>POST</a:t>
                      </a:r>
                      <a:endParaRPr dirty="0" sz="1400" lang="en-US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9E8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02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/api/items</a:t>
                      </a:r>
                      <a:endParaRPr dirty="0" sz="14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0292B"/>
                          </a:solidFill>
                        </a:rPr>
                        <a:t>Report a lost or found item</a:t>
                      </a:r>
                      <a:endParaRPr dirty="0" sz="1400" lang="en-US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400" lang="en-US">
                          <a:solidFill>
                            <a:srgbClr val="FFFFFF"/>
                          </a:solidFill>
                        </a:rPr>
                        <a:t>GET</a:t>
                      </a:r>
                      <a:endParaRPr dirty="0" sz="1400" lang="en-US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285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02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/api/items?q=&amp;category=</a:t>
                      </a:r>
                      <a:endParaRPr dirty="0" sz="14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0292B"/>
                          </a:solidFill>
                        </a:rPr>
                        <a:t>Search and filter items</a:t>
                      </a:r>
                      <a:endParaRPr dirty="0" sz="1400" lang="en-US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400" lang="en-US">
                          <a:solidFill>
                            <a:srgbClr val="FFFFFF"/>
                          </a:solidFill>
                        </a:rPr>
                        <a:t>GET</a:t>
                      </a:r>
                      <a:endParaRPr dirty="0" sz="1400" lang="en-US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285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02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/api/items/:id</a:t>
                      </a:r>
                      <a:endParaRPr dirty="0" sz="14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0292B"/>
                          </a:solidFill>
                        </a:rPr>
                        <a:t>View item details</a:t>
                      </a:r>
                      <a:endParaRPr dirty="0" sz="1400" lang="en-US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400" lang="en-US">
                          <a:solidFill>
                            <a:srgbClr val="10292B"/>
                          </a:solidFill>
                        </a:rPr>
                        <a:t>PUT</a:t>
                      </a:r>
                      <a:endParaRPr dirty="0" sz="1400" lang="en-US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02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/api/items/:id</a:t>
                      </a:r>
                      <a:endParaRPr dirty="0" sz="14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0292B"/>
                          </a:solidFill>
                        </a:rPr>
                        <a:t>Update an item (owner / admin)</a:t>
                      </a:r>
                      <a:endParaRPr dirty="0" sz="1400" lang="en-US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400" lang="en-US">
                          <a:solidFill>
                            <a:srgbClr val="FFFFFF"/>
                          </a:solidFill>
                        </a:rPr>
                        <a:t>DELETE</a:t>
                      </a:r>
                      <a:endParaRPr dirty="0" sz="1400" lang="en-US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2A2A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02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/api/items/:id</a:t>
                      </a:r>
                      <a:endParaRPr dirty="0" sz="14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0292B"/>
                          </a:solidFill>
                        </a:rPr>
                        <a:t>Remove an item (owner / admin)</a:t>
                      </a:r>
                      <a:endParaRPr dirty="0" sz="1400" lang="en-US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400" lang="en-US">
                          <a:solidFill>
                            <a:srgbClr val="10292B"/>
                          </a:solidFill>
                        </a:rPr>
                        <a:t>PATCH</a:t>
                      </a:r>
                      <a:endParaRPr dirty="0" sz="1400" lang="en-US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02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/api/items/:id/status</a:t>
                      </a:r>
                      <a:endParaRPr dirty="0" sz="14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0292B"/>
                          </a:solidFill>
                        </a:rPr>
                        <a:t>Mark an item as claimed</a:t>
                      </a:r>
                      <a:endParaRPr dirty="0" sz="1400" lang="en-US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8674" name="Text 1"/>
          <p:cNvSpPr txBox="1"/>
          <p:nvPr/>
        </p:nvSpPr>
        <p:spPr>
          <a:xfrm>
            <a:off x="457200" y="4343400"/>
            <a:ext cx="82296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chemeClr val="accent5"/>
                </a:solidFill>
              </a:rPr>
              <a:t>All endpoints return JSON. Write routes are protected by JWT middleware.</a:t>
            </a:r>
            <a:endParaRPr dirty="0" sz="1200" lang="en-US"/>
          </a:p>
        </p:txBody>
      </p:sp>
      <p:sp>
        <p:nvSpPr>
          <p:cNvPr id="104867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/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3600" lang="en-US">
                <a:solidFill>
                  <a:schemeClr val="tx2"/>
                </a:solidFill>
              </a:rPr>
              <a:t>Authentication &amp; Roles</a:t>
            </a:r>
            <a:endParaRPr dirty="0" sz="3600" lang="en-US"/>
          </a:p>
        </p:txBody>
      </p:sp>
      <p:sp>
        <p:nvSpPr>
          <p:cNvPr id="1048680" name="Role card User (Student / Staff)"/>
          <p:cNvSpPr/>
          <p:nvPr/>
        </p:nvSpPr>
        <p:spPr>
          <a:xfrm>
            <a:off x="457200" y="1234440"/>
            <a:ext cx="4023360" cy="1965960"/>
          </a:xfrm>
          <a:prstGeom prst="rect"/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48681" name="User (Student / Staff) circle"/>
          <p:cNvSpPr/>
          <p:nvPr/>
        </p:nvSpPr>
        <p:spPr>
          <a:xfrm>
            <a:off x="640080" y="1371600"/>
            <a:ext cx="457200" cy="457200"/>
          </a:xfrm>
          <a:prstGeom prst="ellipse"/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97163" name="User (Student / Staff) icon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54380" y="1485900"/>
            <a:ext cx="228600" cy="228600"/>
          </a:xfrm>
          <a:prstGeom prst="rect"/>
        </p:spPr>
      </p:pic>
      <p:sp>
        <p:nvSpPr>
          <p:cNvPr id="1048682" name="Text 3"/>
          <p:cNvSpPr txBox="1"/>
          <p:nvPr/>
        </p:nvSpPr>
        <p:spPr>
          <a:xfrm>
            <a:off x="1234440" y="1371600"/>
            <a:ext cx="310896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800" lang="en-US">
                <a:solidFill>
                  <a:schemeClr val="tx1"/>
                </a:solidFill>
              </a:rPr>
              <a:t>User (Student / Staff)</a:t>
            </a:r>
            <a:endParaRPr dirty="0" sz="1800" lang="en-US"/>
          </a:p>
        </p:txBody>
      </p:sp>
      <p:sp>
        <p:nvSpPr>
          <p:cNvPr id="1048683" name="Text 4"/>
          <p:cNvSpPr txBox="1"/>
          <p:nvPr/>
        </p:nvSpPr>
        <p:spPr>
          <a:xfrm>
            <a:off x="685800" y="2011680"/>
            <a:ext cx="3611880" cy="1097280"/>
          </a:xfrm>
          <a:prstGeom prst="rect"/>
          <a:noFill/>
        </p:spPr>
        <p:txBody>
          <a:bodyPr anchor="t" bIns="0" lIns="0" rIns="0" rtlCol="0" tIns="0" wrap="square"/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chemeClr val="tx1"/>
                </a:solidFill>
              </a:rPr>
              <a:t>Register and log in with JWT</a:t>
            </a:r>
            <a:endParaRPr dirty="0" sz="14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chemeClr val="tx1"/>
                </a:solidFill>
              </a:rPr>
              <a:t>Report lost or found items</a:t>
            </a:r>
            <a:endParaRPr dirty="0" sz="14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chemeClr val="tx1"/>
                </a:solidFill>
              </a:rPr>
              <a:t>Edit or delete own posts</a:t>
            </a:r>
            <a:endParaRPr dirty="0" sz="1400" lang="en-US"/>
          </a:p>
        </p:txBody>
      </p:sp>
      <p:sp>
        <p:nvSpPr>
          <p:cNvPr id="1048684" name="Role card Admin"/>
          <p:cNvSpPr/>
          <p:nvPr/>
        </p:nvSpPr>
        <p:spPr>
          <a:xfrm>
            <a:off x="4663440" y="1234440"/>
            <a:ext cx="4023360" cy="1965960"/>
          </a:xfrm>
          <a:prstGeom prst="rect"/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48685" name="Admin circle"/>
          <p:cNvSpPr/>
          <p:nvPr/>
        </p:nvSpPr>
        <p:spPr>
          <a:xfrm>
            <a:off x="4846320" y="1371600"/>
            <a:ext cx="457200" cy="457200"/>
          </a:xfrm>
          <a:prstGeom prst="ellipse"/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97164" name="Admin icon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960620" y="1485900"/>
            <a:ext cx="228600" cy="228600"/>
          </a:xfrm>
          <a:prstGeom prst="rect"/>
        </p:spPr>
      </p:pic>
      <p:sp>
        <p:nvSpPr>
          <p:cNvPr id="1048686" name="Text 7"/>
          <p:cNvSpPr txBox="1"/>
          <p:nvPr/>
        </p:nvSpPr>
        <p:spPr>
          <a:xfrm>
            <a:off x="5440680" y="1371600"/>
            <a:ext cx="310896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800" lang="en-US">
                <a:solidFill>
                  <a:schemeClr val="tx1"/>
                </a:solidFill>
              </a:rPr>
              <a:t>Admin</a:t>
            </a:r>
            <a:endParaRPr dirty="0" sz="1800" lang="en-US"/>
          </a:p>
        </p:txBody>
      </p:sp>
      <p:sp>
        <p:nvSpPr>
          <p:cNvPr id="1048687" name="Text 8"/>
          <p:cNvSpPr txBox="1"/>
          <p:nvPr/>
        </p:nvSpPr>
        <p:spPr>
          <a:xfrm>
            <a:off x="4892040" y="2011680"/>
            <a:ext cx="3611880" cy="1097280"/>
          </a:xfrm>
          <a:prstGeom prst="rect"/>
          <a:noFill/>
        </p:spPr>
        <p:txBody>
          <a:bodyPr anchor="t" bIns="0" lIns="0" rIns="0" rtlCol="0" tIns="0" wrap="square"/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chemeClr val="tx1"/>
                </a:solidFill>
              </a:rPr>
              <a:t>Everything a user can do</a:t>
            </a:r>
            <a:endParaRPr dirty="0" sz="14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chemeClr val="tx1"/>
                </a:solidFill>
              </a:rPr>
              <a:t>Moderate or delete any item</a:t>
            </a:r>
            <a:endParaRPr dirty="0" sz="14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chemeClr val="tx1"/>
                </a:solidFill>
              </a:rPr>
              <a:t>Mark items as claimed</a:t>
            </a:r>
            <a:endParaRPr dirty="0" sz="1400" lang="en-US"/>
          </a:p>
        </p:txBody>
      </p:sp>
      <p:sp>
        <p:nvSpPr>
          <p:cNvPr id="1048688" name="Text 9"/>
          <p:cNvSpPr txBox="1"/>
          <p:nvPr/>
        </p:nvSpPr>
        <p:spPr>
          <a:xfrm>
            <a:off x="457200" y="3474720"/>
            <a:ext cx="3657600" cy="2286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kern="0" lang="en-US" spc="100">
                <a:solidFill>
                  <a:schemeClr val="accent5"/>
                </a:solidFill>
              </a:rPr>
              <a:t>ITEM LIFECYCLE</a:t>
            </a:r>
            <a:endParaRPr dirty="0" sz="1200" lang="en-US"/>
          </a:p>
        </p:txBody>
      </p:sp>
      <p:sp>
        <p:nvSpPr>
          <p:cNvPr id="1048689" name="Step pill Report"/>
          <p:cNvSpPr/>
          <p:nvPr/>
        </p:nvSpPr>
        <p:spPr>
          <a:xfrm>
            <a:off x="457200" y="3840480"/>
            <a:ext cx="1920240" cy="6400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48690" name="Step num 1"/>
          <p:cNvSpPr/>
          <p:nvPr/>
        </p:nvSpPr>
        <p:spPr>
          <a:xfrm>
            <a:off x="566928" y="3977640"/>
            <a:ext cx="365760" cy="365760"/>
          </a:xfrm>
          <a:prstGeom prst="ellipse"/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48691" name="Text 12"/>
          <p:cNvSpPr txBox="1"/>
          <p:nvPr/>
        </p:nvSpPr>
        <p:spPr>
          <a:xfrm>
            <a:off x="566928" y="3977640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chemeClr val="tx1"/>
                </a:solidFill>
              </a:rPr>
              <a:t>1</a:t>
            </a:r>
            <a:endParaRPr dirty="0" sz="1400" lang="en-US"/>
          </a:p>
        </p:txBody>
      </p:sp>
      <p:sp>
        <p:nvSpPr>
          <p:cNvPr id="1048692" name="Text 13"/>
          <p:cNvSpPr txBox="1"/>
          <p:nvPr/>
        </p:nvSpPr>
        <p:spPr>
          <a:xfrm>
            <a:off x="1024128" y="3840480"/>
            <a:ext cx="128016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chemeClr val="bg1"/>
                </a:solidFill>
              </a:rPr>
              <a:t>Report</a:t>
            </a:r>
            <a:endParaRPr dirty="0" sz="1400" lang="en-US"/>
          </a:p>
        </p:txBody>
      </p:sp>
      <p:sp>
        <p:nvSpPr>
          <p:cNvPr id="1048693" name="Step pill Search &amp; match"/>
          <p:cNvSpPr/>
          <p:nvPr/>
        </p:nvSpPr>
        <p:spPr>
          <a:xfrm>
            <a:off x="2560320" y="3840480"/>
            <a:ext cx="1920240" cy="6400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48694" name="Step num 2"/>
          <p:cNvSpPr/>
          <p:nvPr/>
        </p:nvSpPr>
        <p:spPr>
          <a:xfrm>
            <a:off x="2670048" y="3977640"/>
            <a:ext cx="365760" cy="365760"/>
          </a:xfrm>
          <a:prstGeom prst="ellipse"/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48695" name="Text 16"/>
          <p:cNvSpPr txBox="1"/>
          <p:nvPr/>
        </p:nvSpPr>
        <p:spPr>
          <a:xfrm>
            <a:off x="2670048" y="3977640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chemeClr val="tx1"/>
                </a:solidFill>
              </a:rPr>
              <a:t>2</a:t>
            </a:r>
            <a:endParaRPr dirty="0" sz="1400" lang="en-US"/>
          </a:p>
        </p:txBody>
      </p:sp>
      <p:sp>
        <p:nvSpPr>
          <p:cNvPr id="1048696" name="Text 17"/>
          <p:cNvSpPr txBox="1"/>
          <p:nvPr/>
        </p:nvSpPr>
        <p:spPr>
          <a:xfrm>
            <a:off x="3127248" y="3840480"/>
            <a:ext cx="128016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chemeClr val="bg1"/>
                </a:solidFill>
              </a:rPr>
              <a:t>Search &amp; match</a:t>
            </a:r>
            <a:endParaRPr dirty="0" sz="1400" lang="en-US"/>
          </a:p>
        </p:txBody>
      </p:sp>
      <p:sp>
        <p:nvSpPr>
          <p:cNvPr id="1048697" name="Step pill Claim"/>
          <p:cNvSpPr/>
          <p:nvPr/>
        </p:nvSpPr>
        <p:spPr>
          <a:xfrm>
            <a:off x="4663440" y="3840480"/>
            <a:ext cx="1920240" cy="6400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48698" name="Step num 3"/>
          <p:cNvSpPr/>
          <p:nvPr/>
        </p:nvSpPr>
        <p:spPr>
          <a:xfrm>
            <a:off x="4773168" y="3977640"/>
            <a:ext cx="365760" cy="365760"/>
          </a:xfrm>
          <a:prstGeom prst="ellipse"/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48699" name="Text 20"/>
          <p:cNvSpPr txBox="1"/>
          <p:nvPr/>
        </p:nvSpPr>
        <p:spPr>
          <a:xfrm>
            <a:off x="4773168" y="3977640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chemeClr val="tx1"/>
                </a:solidFill>
              </a:rPr>
              <a:t>3</a:t>
            </a:r>
            <a:endParaRPr dirty="0" sz="1400" lang="en-US"/>
          </a:p>
        </p:txBody>
      </p:sp>
      <p:sp>
        <p:nvSpPr>
          <p:cNvPr id="1048700" name="Text 21"/>
          <p:cNvSpPr txBox="1"/>
          <p:nvPr/>
        </p:nvSpPr>
        <p:spPr>
          <a:xfrm>
            <a:off x="5230368" y="3840480"/>
            <a:ext cx="128016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chemeClr val="bg1"/>
                </a:solidFill>
              </a:rPr>
              <a:t>Claim</a:t>
            </a:r>
            <a:endParaRPr dirty="0" sz="1400" lang="en-US"/>
          </a:p>
        </p:txBody>
      </p:sp>
      <p:sp>
        <p:nvSpPr>
          <p:cNvPr id="1048701" name="Step pill Resolved"/>
          <p:cNvSpPr/>
          <p:nvPr/>
        </p:nvSpPr>
        <p:spPr>
          <a:xfrm>
            <a:off x="6766560" y="3840480"/>
            <a:ext cx="1920240" cy="6400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48702" name="Step num 4"/>
          <p:cNvSpPr/>
          <p:nvPr/>
        </p:nvSpPr>
        <p:spPr>
          <a:xfrm>
            <a:off x="6876288" y="3977640"/>
            <a:ext cx="365760" cy="365760"/>
          </a:xfrm>
          <a:prstGeom prst="ellipse"/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48703" name="Text 24"/>
          <p:cNvSpPr txBox="1"/>
          <p:nvPr/>
        </p:nvSpPr>
        <p:spPr>
          <a:xfrm>
            <a:off x="6876288" y="3977640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chemeClr val="tx1"/>
                </a:solidFill>
              </a:rPr>
              <a:t>4</a:t>
            </a:r>
            <a:endParaRPr dirty="0" sz="1400" lang="en-US"/>
          </a:p>
        </p:txBody>
      </p:sp>
      <p:sp>
        <p:nvSpPr>
          <p:cNvPr id="1048704" name="Text 25"/>
          <p:cNvSpPr txBox="1"/>
          <p:nvPr/>
        </p:nvSpPr>
        <p:spPr>
          <a:xfrm>
            <a:off x="7333488" y="3840480"/>
            <a:ext cx="128016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chemeClr val="bg1"/>
                </a:solidFill>
              </a:rPr>
              <a:t>Resolved</a:t>
            </a:r>
            <a:endParaRPr dirty="0" sz="1400" lang="en-US"/>
          </a:p>
        </p:txBody>
      </p:sp>
      <p:sp>
        <p:nvSpPr>
          <p:cNvPr id="104870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/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1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3600" lang="en-US">
                <a:solidFill>
                  <a:schemeClr val="bg1"/>
                </a:solidFill>
              </a:rPr>
              <a:t>Results &amp; Future Scope</a:t>
            </a:r>
            <a:endParaRPr dirty="0" sz="3600" lang="en-US"/>
          </a:p>
        </p:txBody>
      </p:sp>
      <p:sp>
        <p:nvSpPr>
          <p:cNvPr id="1048712" name="Stat card CRUD operations"/>
          <p:cNvSpPr/>
          <p:nvPr/>
        </p:nvSpPr>
        <p:spPr>
          <a:xfrm>
            <a:off x="457200" y="1188720"/>
            <a:ext cx="2560320" cy="1097280"/>
          </a:xfrm>
          <a:prstGeom prst="rect"/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48713" name="Text 2"/>
          <p:cNvSpPr txBox="1"/>
          <p:nvPr/>
        </p:nvSpPr>
        <p:spPr>
          <a:xfrm>
            <a:off x="685800" y="1188720"/>
            <a:ext cx="822960" cy="10972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5400" lang="en-US">
                <a:solidFill>
                  <a:schemeClr val="accent1"/>
                </a:solidFill>
              </a:rPr>
              <a:t>4</a:t>
            </a:r>
            <a:endParaRPr dirty="0" sz="5400" lang="en-US"/>
          </a:p>
        </p:txBody>
      </p:sp>
      <p:sp>
        <p:nvSpPr>
          <p:cNvPr id="1048714" name="Text 3"/>
          <p:cNvSpPr txBox="1"/>
          <p:nvPr/>
        </p:nvSpPr>
        <p:spPr>
          <a:xfrm>
            <a:off x="1508760" y="1188720"/>
            <a:ext cx="1371600" cy="109728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600" lang="en-US">
                <a:solidFill>
                  <a:schemeClr val="bg1"/>
                </a:solidFill>
              </a:rPr>
              <a:t>CRUD operations</a:t>
            </a:r>
            <a:endParaRPr dirty="0" sz="1600" lang="en-US"/>
          </a:p>
        </p:txBody>
      </p:sp>
      <p:sp>
        <p:nvSpPr>
          <p:cNvPr id="1048715" name="Stat card user roles"/>
          <p:cNvSpPr/>
          <p:nvPr/>
        </p:nvSpPr>
        <p:spPr>
          <a:xfrm>
            <a:off x="3291840" y="1188720"/>
            <a:ext cx="2560320" cy="1097280"/>
          </a:xfrm>
          <a:prstGeom prst="rect"/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48716" name="Text 5"/>
          <p:cNvSpPr txBox="1"/>
          <p:nvPr/>
        </p:nvSpPr>
        <p:spPr>
          <a:xfrm>
            <a:off x="3520440" y="1188720"/>
            <a:ext cx="822960" cy="10972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5400" lang="en-US">
                <a:solidFill>
                  <a:schemeClr val="accent1"/>
                </a:solidFill>
              </a:rPr>
              <a:t>2</a:t>
            </a:r>
            <a:endParaRPr dirty="0" sz="5400" lang="en-US"/>
          </a:p>
        </p:txBody>
      </p:sp>
      <p:sp>
        <p:nvSpPr>
          <p:cNvPr id="1048717" name="Text 6"/>
          <p:cNvSpPr txBox="1"/>
          <p:nvPr/>
        </p:nvSpPr>
        <p:spPr>
          <a:xfrm>
            <a:off x="4343400" y="1188720"/>
            <a:ext cx="1371600" cy="109728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600" lang="en-US">
                <a:solidFill>
                  <a:schemeClr val="bg1"/>
                </a:solidFill>
              </a:rPr>
              <a:t>user roles</a:t>
            </a:r>
            <a:endParaRPr dirty="0" sz="1600" lang="en-US"/>
          </a:p>
        </p:txBody>
      </p:sp>
      <p:sp>
        <p:nvSpPr>
          <p:cNvPr id="1048718" name="Stat card MERN tiers"/>
          <p:cNvSpPr/>
          <p:nvPr/>
        </p:nvSpPr>
        <p:spPr>
          <a:xfrm>
            <a:off x="6126480" y="1188720"/>
            <a:ext cx="2560320" cy="1097280"/>
          </a:xfrm>
          <a:prstGeom prst="rect"/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48719" name="Text 8"/>
          <p:cNvSpPr txBox="1"/>
          <p:nvPr/>
        </p:nvSpPr>
        <p:spPr>
          <a:xfrm>
            <a:off x="6355080" y="1188720"/>
            <a:ext cx="822960" cy="10972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5400" lang="en-US">
                <a:solidFill>
                  <a:schemeClr val="accent1"/>
                </a:solidFill>
              </a:rPr>
              <a:t>3</a:t>
            </a:r>
            <a:endParaRPr dirty="0" sz="5400" lang="en-US"/>
          </a:p>
        </p:txBody>
      </p:sp>
      <p:sp>
        <p:nvSpPr>
          <p:cNvPr id="1048720" name="Text 9"/>
          <p:cNvSpPr txBox="1"/>
          <p:nvPr/>
        </p:nvSpPr>
        <p:spPr>
          <a:xfrm>
            <a:off x="7178040" y="1188720"/>
            <a:ext cx="1371600" cy="109728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600" lang="en-US">
                <a:solidFill>
                  <a:schemeClr val="bg1"/>
                </a:solidFill>
              </a:rPr>
              <a:t>MERN tiers</a:t>
            </a:r>
            <a:endParaRPr dirty="0" sz="1600" lang="en-US"/>
          </a:p>
        </p:txBody>
      </p:sp>
      <p:sp>
        <p:nvSpPr>
          <p:cNvPr id="1048721" name="Text 10"/>
          <p:cNvSpPr txBox="1"/>
          <p:nvPr/>
        </p:nvSpPr>
        <p:spPr>
          <a:xfrm>
            <a:off x="457200" y="2560320"/>
            <a:ext cx="38404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800" lang="en-US">
                <a:solidFill>
                  <a:schemeClr val="accent1"/>
                </a:solidFill>
              </a:rPr>
              <a:t>Outcomes</a:t>
            </a:r>
            <a:endParaRPr dirty="0" sz="1800" lang="en-US"/>
          </a:p>
        </p:txBody>
      </p:sp>
      <p:sp>
        <p:nvSpPr>
          <p:cNvPr id="1048722" name="Text 11"/>
          <p:cNvSpPr txBox="1"/>
          <p:nvPr/>
        </p:nvSpPr>
        <p:spPr>
          <a:xfrm>
            <a:off x="457200" y="2971800"/>
            <a:ext cx="3931920" cy="1645920"/>
          </a:xfrm>
          <a:prstGeom prst="rect"/>
          <a:noFill/>
        </p:spPr>
        <p:txBody>
          <a:bodyPr anchor="t" bIns="0" lIns="0" rIns="0" rtlCol="0" tIns="0" wrap="square"/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chemeClr val="bg1"/>
                </a:solidFill>
              </a:rPr>
              <a:t>Working report, search and manage portal</a:t>
            </a:r>
            <a:endParaRPr dirty="0" sz="14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chemeClr val="bg1"/>
                </a:solidFill>
              </a:rPr>
              <a:t>Full CRUD through REST APIs</a:t>
            </a:r>
            <a:endParaRPr dirty="0" sz="14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chemeClr val="bg1"/>
                </a:solidFill>
              </a:rPr>
              <a:t>Secure login with role-based access</a:t>
            </a:r>
            <a:endParaRPr dirty="0" sz="14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chemeClr val="bg1"/>
                </a:solidFill>
              </a:rPr>
              <a:t>Clean, responsive React interface</a:t>
            </a:r>
            <a:endParaRPr dirty="0" sz="1400" lang="en-US"/>
          </a:p>
        </p:txBody>
      </p:sp>
      <p:sp>
        <p:nvSpPr>
          <p:cNvPr id="1048723" name="Text 12"/>
          <p:cNvSpPr txBox="1"/>
          <p:nvPr/>
        </p:nvSpPr>
        <p:spPr>
          <a:xfrm>
            <a:off x="4754880" y="2560320"/>
            <a:ext cx="38404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800" lang="en-US">
                <a:solidFill>
                  <a:schemeClr val="accent1"/>
                </a:solidFill>
              </a:rPr>
              <a:t>Future Scope</a:t>
            </a:r>
            <a:endParaRPr dirty="0" sz="1800" lang="en-US"/>
          </a:p>
        </p:txBody>
      </p:sp>
      <p:sp>
        <p:nvSpPr>
          <p:cNvPr id="1048724" name="Text 13"/>
          <p:cNvSpPr txBox="1"/>
          <p:nvPr/>
        </p:nvSpPr>
        <p:spPr>
          <a:xfrm>
            <a:off x="4754880" y="2971800"/>
            <a:ext cx="3931920" cy="1645920"/>
          </a:xfrm>
          <a:prstGeom prst="rect"/>
          <a:noFill/>
        </p:spPr>
        <p:txBody>
          <a:bodyPr anchor="t" bIns="0" lIns="0" rIns="0" rtlCol="0" tIns="0" wrap="square"/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chemeClr val="bg1"/>
                </a:solidFill>
              </a:rPr>
              <a:t>Email / SMS alerts on matches</a:t>
            </a:r>
            <a:endParaRPr dirty="0" sz="14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chemeClr val="bg1"/>
                </a:solidFill>
              </a:rPr>
              <a:t>Image-based item matching</a:t>
            </a:r>
            <a:endParaRPr dirty="0" sz="14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chemeClr val="bg1"/>
                </a:solidFill>
              </a:rPr>
              <a:t>QR tags for valuables</a:t>
            </a:r>
            <a:endParaRPr dirty="0" sz="14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400" lang="en-US">
                <a:solidFill>
                  <a:schemeClr val="bg1"/>
                </a:solidFill>
              </a:rPr>
              <a:t>Campus map view of locations</a:t>
            </a:r>
            <a:endParaRPr dirty="0" sz="1400" lang="en-US"/>
          </a:p>
        </p:txBody>
      </p:sp>
      <p:sp>
        <p:nvSpPr>
          <p:cNvPr id="10487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/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mpus Teal">
  <a:themeElements>
    <a:clrScheme name="Campus Teal">
      <a:dk1>
        <a:srgbClr val="10292B"/>
      </a:dk1>
      <a:lt1>
        <a:srgbClr val="FFFFFF"/>
      </a:lt1>
      <a:dk2>
        <a:srgbClr val="0B5563"/>
      </a:dk2>
      <a:lt2>
        <a:srgbClr val="EAF4F4"/>
      </a:lt2>
      <a:accent1>
        <a:srgbClr val="F5A623"/>
      </a:accent1>
      <a:accent2>
        <a:srgbClr val="0B7285"/>
      </a:accent2>
      <a:accent3>
        <a:srgbClr val="2F9E8F"/>
      </a:accent3>
      <a:accent4>
        <a:srgbClr val="E8590C"/>
      </a:accent4>
      <a:accent5>
        <a:srgbClr val="5C7C80"/>
      </a:accent5>
      <a:accent6>
        <a:srgbClr val="7BC8C0"/>
      </a:accent6>
      <a:hlink>
        <a:srgbClr val="0B7285"/>
      </a:hlink>
      <a:folHlink>
        <a:srgbClr val="5C7C80"/>
      </a:folHlink>
    </a:clrScheme>
    <a:fontScheme name="Campus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Campus Teal">
  <a:themeElements>
    <a:clrScheme name="Campus Teal">
      <a:dk1>
        <a:srgbClr val="10292B"/>
      </a:dk1>
      <a:lt1>
        <a:srgbClr val="FFFFFF"/>
      </a:lt1>
      <a:dk2>
        <a:srgbClr val="0B5563"/>
      </a:dk2>
      <a:lt2>
        <a:srgbClr val="EAF4F4"/>
      </a:lt2>
      <a:accent1>
        <a:srgbClr val="F5A623"/>
      </a:accent1>
      <a:accent2>
        <a:srgbClr val="0B7285"/>
      </a:accent2>
      <a:accent3>
        <a:srgbClr val="2F9E8F"/>
      </a:accent3>
      <a:accent4>
        <a:srgbClr val="E8590C"/>
      </a:accent4>
      <a:accent5>
        <a:srgbClr val="5C7C80"/>
      </a:accent5>
      <a:accent6>
        <a:srgbClr val="7BC8C0"/>
      </a:accent6>
      <a:hlink>
        <a:srgbClr val="0B7285"/>
      </a:hlink>
      <a:folHlink>
        <a:srgbClr val="5C7C80"/>
      </a:folHlink>
    </a:clrScheme>
    <a:fontScheme name="Campus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Campus Lost &amp; Found Portal (MERN)</dc:title>
  <dc:creator>PptxGenJS</dc:creator>
  <cp:lastModifiedBy>PptxGenJS</cp:lastModifiedBy>
  <dcterms:created xsi:type="dcterms:W3CDTF">2026-10-09T18:51:31Z</dcterms:created>
  <dcterms:modified xsi:type="dcterms:W3CDTF">2026-10-10T06:25:00Z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19949985879a4fbea3175fccb9f81745_23</vt:lpwstr>
  </property>
</Properties>
</file>